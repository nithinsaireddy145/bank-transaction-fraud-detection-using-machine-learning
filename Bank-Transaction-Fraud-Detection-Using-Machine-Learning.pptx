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5" r:id="rId10"/>
    <p:sldId id="266" r:id="rId11"/>
    <p:sldId id="267" r:id="rId12"/>
  </p:sldIdLst>
  <p:sldSz cx="14630400" cy="8229600"/>
  <p:notesSz cx="8229600" cy="14630400"/>
  <p:embeddedFontLst>
    <p:embeddedFont>
      <p:font typeface="Barlow" panose="00000500000000000000" pitchFamily="2"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984"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duthanapelli Sai rohith" userId="9c0a82abd6fb079e" providerId="LiveId" clId="{99A57DC8-F55C-43ED-8B64-04D49BAC7D68}"/>
    <pc:docChg chg="custSel delSld modSld">
      <pc:chgData name="Muduthanapelli Sai rohith" userId="9c0a82abd6fb079e" providerId="LiveId" clId="{99A57DC8-F55C-43ED-8B64-04D49BAC7D68}" dt="2025-11-07T00:01:43.876" v="4" actId="47"/>
      <pc:docMkLst>
        <pc:docMk/>
      </pc:docMkLst>
      <pc:sldChg chg="delSp mod">
        <pc:chgData name="Muduthanapelli Sai rohith" userId="9c0a82abd6fb079e" providerId="LiveId" clId="{99A57DC8-F55C-43ED-8B64-04D49BAC7D68}" dt="2025-11-07T00:01:31.439" v="3" actId="478"/>
        <pc:sldMkLst>
          <pc:docMk/>
          <pc:sldMk cId="0" sldId="256"/>
        </pc:sldMkLst>
        <pc:spChg chg="del">
          <ac:chgData name="Muduthanapelli Sai rohith" userId="9c0a82abd6fb079e" providerId="LiveId" clId="{99A57DC8-F55C-43ED-8B64-04D49BAC7D68}" dt="2025-11-07T00:01:25.059" v="0" actId="478"/>
          <ac:spMkLst>
            <pc:docMk/>
            <pc:sldMk cId="0" sldId="256"/>
            <ac:spMk id="4" creationId="{00000000-0000-0000-0000-000000000000}"/>
          </ac:spMkLst>
        </pc:spChg>
        <pc:spChg chg="del">
          <ac:chgData name="Muduthanapelli Sai rohith" userId="9c0a82abd6fb079e" providerId="LiveId" clId="{99A57DC8-F55C-43ED-8B64-04D49BAC7D68}" dt="2025-11-07T00:01:26.884" v="1" actId="478"/>
          <ac:spMkLst>
            <pc:docMk/>
            <pc:sldMk cId="0" sldId="256"/>
            <ac:spMk id="5" creationId="{00000000-0000-0000-0000-000000000000}"/>
          </ac:spMkLst>
        </pc:spChg>
        <pc:spChg chg="del">
          <ac:chgData name="Muduthanapelli Sai rohith" userId="9c0a82abd6fb079e" providerId="LiveId" clId="{99A57DC8-F55C-43ED-8B64-04D49BAC7D68}" dt="2025-11-07T00:01:29.861" v="2" actId="478"/>
          <ac:spMkLst>
            <pc:docMk/>
            <pc:sldMk cId="0" sldId="256"/>
            <ac:spMk id="6" creationId="{00000000-0000-0000-0000-000000000000}"/>
          </ac:spMkLst>
        </pc:spChg>
        <pc:spChg chg="del">
          <ac:chgData name="Muduthanapelli Sai rohith" userId="9c0a82abd6fb079e" providerId="LiveId" clId="{99A57DC8-F55C-43ED-8B64-04D49BAC7D68}" dt="2025-11-07T00:01:31.439" v="3" actId="478"/>
          <ac:spMkLst>
            <pc:docMk/>
            <pc:sldMk cId="0" sldId="256"/>
            <ac:spMk id="7" creationId="{00000000-0000-0000-0000-000000000000}"/>
          </ac:spMkLst>
        </pc:spChg>
      </pc:sldChg>
      <pc:sldChg chg="del">
        <pc:chgData name="Muduthanapelli Sai rohith" userId="9c0a82abd6fb079e" providerId="LiveId" clId="{99A57DC8-F55C-43ED-8B64-04D49BAC7D68}" dt="2025-11-07T00:01:43.876" v="4" actId="47"/>
        <pc:sldMkLst>
          <pc:docMk/>
          <pc:sldMk cId="0"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8509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1981319"/>
            <a:ext cx="7415927" cy="2057400"/>
          </a:xfrm>
          <a:prstGeom prst="rect">
            <a:avLst/>
          </a:prstGeom>
          <a:noFill/>
          <a:ln/>
        </p:spPr>
        <p:txBody>
          <a:bodyPr wrap="square" lIns="0" tIns="0" rIns="0" bIns="0" rtlCol="0" anchor="t"/>
          <a:lstStyle/>
          <a:p>
            <a:pPr marL="0" indent="0" algn="l">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Bank Transaction Fraud Detection Using Machine Learning</a:t>
            </a:r>
            <a:endParaRPr lang="en-US" sz="4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957"/>
          </a:xfrm>
          <a:prstGeom prst="rect">
            <a:avLst/>
          </a:prstGeom>
        </p:spPr>
      </p:pic>
      <p:sp>
        <p:nvSpPr>
          <p:cNvPr id="3" name="Text 0"/>
          <p:cNvSpPr/>
          <p:nvPr/>
        </p:nvSpPr>
        <p:spPr>
          <a:xfrm>
            <a:off x="6148626" y="520303"/>
            <a:ext cx="4204930" cy="525661"/>
          </a:xfrm>
          <a:prstGeom prst="rect">
            <a:avLst/>
          </a:prstGeom>
          <a:noFill/>
          <a:ln/>
        </p:spPr>
        <p:txBody>
          <a:bodyPr wrap="none" lIns="0" tIns="0" rIns="0" bIns="0" rtlCol="0" anchor="t"/>
          <a:lstStyle/>
          <a:p>
            <a:pPr marL="0" indent="0" algn="l">
              <a:lnSpc>
                <a:spcPts val="4100"/>
              </a:lnSpc>
              <a:buNone/>
            </a:pPr>
            <a:r>
              <a:rPr lang="en-US" sz="3300" b="1" dirty="0">
                <a:solidFill>
                  <a:srgbClr val="F0FCFF"/>
                </a:solidFill>
                <a:latin typeface="Spline Sans Bold" pitchFamily="34" charset="0"/>
                <a:ea typeface="Spline Sans Bold" pitchFamily="34" charset="-122"/>
                <a:cs typeface="Spline Sans Bold" pitchFamily="34" charset="-120"/>
              </a:rPr>
              <a:t>Executive Summary</a:t>
            </a:r>
            <a:endParaRPr lang="en-US" sz="3300" dirty="0"/>
          </a:p>
        </p:txBody>
      </p:sp>
      <p:sp>
        <p:nvSpPr>
          <p:cNvPr id="4" name="Text 1"/>
          <p:cNvSpPr/>
          <p:nvPr/>
        </p:nvSpPr>
        <p:spPr>
          <a:xfrm>
            <a:off x="6148626" y="1424226"/>
            <a:ext cx="3767852" cy="624364"/>
          </a:xfrm>
          <a:prstGeom prst="rect">
            <a:avLst/>
          </a:prstGeom>
          <a:noFill/>
          <a:ln/>
        </p:spPr>
        <p:txBody>
          <a:bodyPr wrap="none" lIns="0" tIns="0" rIns="0" bIns="0" rtlCol="0" anchor="t"/>
          <a:lstStyle/>
          <a:p>
            <a:pPr marL="0" indent="0" algn="ctr">
              <a:lnSpc>
                <a:spcPts val="4900"/>
              </a:lnSpc>
              <a:buNone/>
            </a:pPr>
            <a:r>
              <a:rPr lang="en-US" sz="4900" b="1" dirty="0">
                <a:solidFill>
                  <a:srgbClr val="16FFBB"/>
                </a:solidFill>
                <a:latin typeface="Spline Sans Bold" pitchFamily="34" charset="0"/>
                <a:ea typeface="Spline Sans Bold" pitchFamily="34" charset="-122"/>
                <a:cs typeface="Spline Sans Bold" pitchFamily="34" charset="-120"/>
              </a:rPr>
              <a:t>$30B</a:t>
            </a:r>
            <a:endParaRPr lang="en-US" sz="4900" dirty="0"/>
          </a:p>
        </p:txBody>
      </p:sp>
      <p:sp>
        <p:nvSpPr>
          <p:cNvPr id="5" name="Text 2"/>
          <p:cNvSpPr/>
          <p:nvPr/>
        </p:nvSpPr>
        <p:spPr>
          <a:xfrm>
            <a:off x="6981349" y="2284928"/>
            <a:ext cx="2102406" cy="262771"/>
          </a:xfrm>
          <a:prstGeom prst="rect">
            <a:avLst/>
          </a:prstGeom>
          <a:noFill/>
          <a:ln/>
        </p:spPr>
        <p:txBody>
          <a:bodyPr wrap="none" lIns="0" tIns="0" rIns="0" bIns="0" rtlCol="0" anchor="t"/>
          <a:lstStyle/>
          <a:p>
            <a:pPr marL="0" indent="0" algn="ctr">
              <a:lnSpc>
                <a:spcPts val="2050"/>
              </a:lnSpc>
              <a:buNone/>
            </a:pPr>
            <a:r>
              <a:rPr lang="en-US" sz="1650" b="1" dirty="0">
                <a:solidFill>
                  <a:srgbClr val="E0E4E6"/>
                </a:solidFill>
                <a:latin typeface="Spline Sans Bold" pitchFamily="34" charset="0"/>
                <a:ea typeface="Spline Sans Bold" pitchFamily="34" charset="-122"/>
                <a:cs typeface="Spline Sans Bold" pitchFamily="34" charset="-120"/>
              </a:rPr>
              <a:t>Annual Loss</a:t>
            </a:r>
            <a:endParaRPr lang="en-US" sz="1650" dirty="0"/>
          </a:p>
        </p:txBody>
      </p:sp>
      <p:sp>
        <p:nvSpPr>
          <p:cNvPr id="6" name="Text 3"/>
          <p:cNvSpPr/>
          <p:nvPr/>
        </p:nvSpPr>
        <p:spPr>
          <a:xfrm>
            <a:off x="6148626" y="2661166"/>
            <a:ext cx="3767852" cy="302657"/>
          </a:xfrm>
          <a:prstGeom prst="rect">
            <a:avLst/>
          </a:prstGeom>
          <a:noFill/>
          <a:ln/>
        </p:spPr>
        <p:txBody>
          <a:bodyPr wrap="non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Estimated global cost of financial fraud</a:t>
            </a:r>
            <a:endParaRPr lang="en-US" sz="1450" dirty="0"/>
          </a:p>
        </p:txBody>
      </p:sp>
      <p:sp>
        <p:nvSpPr>
          <p:cNvPr id="7" name="Text 4"/>
          <p:cNvSpPr/>
          <p:nvPr/>
        </p:nvSpPr>
        <p:spPr>
          <a:xfrm>
            <a:off x="10200203" y="1424226"/>
            <a:ext cx="3767971" cy="624364"/>
          </a:xfrm>
          <a:prstGeom prst="rect">
            <a:avLst/>
          </a:prstGeom>
          <a:noFill/>
          <a:ln/>
        </p:spPr>
        <p:txBody>
          <a:bodyPr wrap="none" lIns="0" tIns="0" rIns="0" bIns="0" rtlCol="0" anchor="t"/>
          <a:lstStyle/>
          <a:p>
            <a:pPr marL="0" indent="0" algn="ctr">
              <a:lnSpc>
                <a:spcPts val="4900"/>
              </a:lnSpc>
              <a:buNone/>
            </a:pPr>
            <a:r>
              <a:rPr lang="en-US" sz="4900" b="1" dirty="0">
                <a:solidFill>
                  <a:srgbClr val="29DDDA"/>
                </a:solidFill>
                <a:latin typeface="Spline Sans Bold" pitchFamily="34" charset="0"/>
                <a:ea typeface="Spline Sans Bold" pitchFamily="34" charset="-122"/>
                <a:cs typeface="Spline Sans Bold" pitchFamily="34" charset="-120"/>
              </a:rPr>
              <a:t>2,512</a:t>
            </a:r>
            <a:endParaRPr lang="en-US" sz="4900" dirty="0"/>
          </a:p>
        </p:txBody>
      </p:sp>
      <p:sp>
        <p:nvSpPr>
          <p:cNvPr id="8" name="Text 5"/>
          <p:cNvSpPr/>
          <p:nvPr/>
        </p:nvSpPr>
        <p:spPr>
          <a:xfrm>
            <a:off x="11032927" y="2284928"/>
            <a:ext cx="2102406" cy="262771"/>
          </a:xfrm>
          <a:prstGeom prst="rect">
            <a:avLst/>
          </a:prstGeom>
          <a:noFill/>
          <a:ln/>
        </p:spPr>
        <p:txBody>
          <a:bodyPr wrap="none" lIns="0" tIns="0" rIns="0" bIns="0" rtlCol="0" anchor="t"/>
          <a:lstStyle/>
          <a:p>
            <a:pPr marL="0" indent="0" algn="ctr">
              <a:lnSpc>
                <a:spcPts val="2050"/>
              </a:lnSpc>
              <a:buNone/>
            </a:pPr>
            <a:r>
              <a:rPr lang="en-US" sz="1650" b="1" dirty="0">
                <a:solidFill>
                  <a:srgbClr val="E0E4E6"/>
                </a:solidFill>
                <a:latin typeface="Spline Sans Bold" pitchFamily="34" charset="0"/>
                <a:ea typeface="Spline Sans Bold" pitchFamily="34" charset="-122"/>
                <a:cs typeface="Spline Sans Bold" pitchFamily="34" charset="-120"/>
              </a:rPr>
              <a:t>Transactions</a:t>
            </a:r>
            <a:endParaRPr lang="en-US" sz="1650" dirty="0"/>
          </a:p>
        </p:txBody>
      </p:sp>
      <p:sp>
        <p:nvSpPr>
          <p:cNvPr id="9" name="Text 6"/>
          <p:cNvSpPr/>
          <p:nvPr/>
        </p:nvSpPr>
        <p:spPr>
          <a:xfrm>
            <a:off x="10200203" y="2661166"/>
            <a:ext cx="3767971" cy="302657"/>
          </a:xfrm>
          <a:prstGeom prst="rect">
            <a:avLst/>
          </a:prstGeom>
          <a:noFill/>
          <a:ln/>
        </p:spPr>
        <p:txBody>
          <a:bodyPr wrap="non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Size of Kaggle dataset analyzed</a:t>
            </a:r>
            <a:endParaRPr lang="en-US" sz="1450" dirty="0"/>
          </a:p>
        </p:txBody>
      </p:sp>
      <p:sp>
        <p:nvSpPr>
          <p:cNvPr id="10" name="Text 7"/>
          <p:cNvSpPr/>
          <p:nvPr/>
        </p:nvSpPr>
        <p:spPr>
          <a:xfrm>
            <a:off x="8174355" y="3625929"/>
            <a:ext cx="3767971" cy="624364"/>
          </a:xfrm>
          <a:prstGeom prst="rect">
            <a:avLst/>
          </a:prstGeom>
          <a:noFill/>
          <a:ln/>
        </p:spPr>
        <p:txBody>
          <a:bodyPr wrap="none" lIns="0" tIns="0" rIns="0" bIns="0" rtlCol="0" anchor="t"/>
          <a:lstStyle/>
          <a:p>
            <a:pPr marL="0" indent="0" algn="ctr">
              <a:lnSpc>
                <a:spcPts val="4900"/>
              </a:lnSpc>
              <a:buNone/>
            </a:pPr>
            <a:r>
              <a:rPr lang="en-US" sz="4900" b="1" dirty="0">
                <a:solidFill>
                  <a:srgbClr val="37A7E7"/>
                </a:solidFill>
                <a:latin typeface="Spline Sans Bold" pitchFamily="34" charset="0"/>
                <a:ea typeface="Spline Sans Bold" pitchFamily="34" charset="-122"/>
                <a:cs typeface="Spline Sans Bold" pitchFamily="34" charset="-120"/>
              </a:rPr>
              <a:t>97%</a:t>
            </a:r>
            <a:endParaRPr lang="en-US" sz="4900" dirty="0"/>
          </a:p>
        </p:txBody>
      </p:sp>
      <p:sp>
        <p:nvSpPr>
          <p:cNvPr id="11" name="Text 8"/>
          <p:cNvSpPr/>
          <p:nvPr/>
        </p:nvSpPr>
        <p:spPr>
          <a:xfrm>
            <a:off x="9007078" y="4486632"/>
            <a:ext cx="2102406" cy="262771"/>
          </a:xfrm>
          <a:prstGeom prst="rect">
            <a:avLst/>
          </a:prstGeom>
          <a:noFill/>
          <a:ln/>
        </p:spPr>
        <p:txBody>
          <a:bodyPr wrap="none" lIns="0" tIns="0" rIns="0" bIns="0" rtlCol="0" anchor="t"/>
          <a:lstStyle/>
          <a:p>
            <a:pPr marL="0" indent="0" algn="ctr">
              <a:lnSpc>
                <a:spcPts val="2050"/>
              </a:lnSpc>
              <a:buNone/>
            </a:pPr>
            <a:r>
              <a:rPr lang="en-US" sz="1650" b="1" dirty="0">
                <a:solidFill>
                  <a:srgbClr val="E0E4E6"/>
                </a:solidFill>
                <a:latin typeface="Spline Sans Bold" pitchFamily="34" charset="0"/>
                <a:ea typeface="Spline Sans Bold" pitchFamily="34" charset="-122"/>
                <a:cs typeface="Spline Sans Bold" pitchFamily="34" charset="-120"/>
              </a:rPr>
              <a:t>Accuracy</a:t>
            </a:r>
            <a:endParaRPr lang="en-US" sz="1650" dirty="0"/>
          </a:p>
        </p:txBody>
      </p:sp>
      <p:sp>
        <p:nvSpPr>
          <p:cNvPr id="12" name="Text 9"/>
          <p:cNvSpPr/>
          <p:nvPr/>
        </p:nvSpPr>
        <p:spPr>
          <a:xfrm>
            <a:off x="8174355" y="4862870"/>
            <a:ext cx="3767971" cy="302657"/>
          </a:xfrm>
          <a:prstGeom prst="rect">
            <a:avLst/>
          </a:prstGeom>
          <a:noFill/>
          <a:ln/>
        </p:spPr>
        <p:txBody>
          <a:bodyPr wrap="non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Model performance on test data</a:t>
            </a:r>
            <a:endParaRPr lang="en-US" sz="1450" dirty="0"/>
          </a:p>
        </p:txBody>
      </p:sp>
      <p:sp>
        <p:nvSpPr>
          <p:cNvPr id="13" name="Text 10"/>
          <p:cNvSpPr/>
          <p:nvPr/>
        </p:nvSpPr>
        <p:spPr>
          <a:xfrm>
            <a:off x="6148626" y="5378291"/>
            <a:ext cx="7819549" cy="1210628"/>
          </a:xfrm>
          <a:prstGeom prst="rect">
            <a:avLst/>
          </a:prstGeom>
          <a:noFill/>
          <a:ln/>
        </p:spPr>
        <p:txBody>
          <a:bodyPr wrap="square" lIns="0" tIns="0" rIns="0" bIns="0" rtlCol="0" anchor="t"/>
          <a:lstStyle/>
          <a:p>
            <a:pPr marL="0" indent="0" algn="l">
              <a:lnSpc>
                <a:spcPts val="2350"/>
              </a:lnSpc>
              <a:buNone/>
            </a:pPr>
            <a:r>
              <a:rPr lang="en-US" sz="1450" dirty="0">
                <a:solidFill>
                  <a:srgbClr val="E0E4E6"/>
                </a:solidFill>
                <a:latin typeface="Barlow" pitchFamily="34" charset="0"/>
                <a:ea typeface="Barlow" pitchFamily="34" charset="-122"/>
                <a:cs typeface="Barlow" pitchFamily="34" charset="-120"/>
              </a:rPr>
              <a:t>Financial fraud represents a significant challenge for banking institutions, costing billions annually in direct losses and mitigation expenses. This research aims to detect fraudulent bank transactions using machine learning techniques applied to the Kaggle Bank Transaction Dataset.</a:t>
            </a:r>
            <a:endParaRPr lang="en-US" sz="1450" dirty="0"/>
          </a:p>
        </p:txBody>
      </p:sp>
      <p:sp>
        <p:nvSpPr>
          <p:cNvPr id="14" name="Text 11"/>
          <p:cNvSpPr/>
          <p:nvPr/>
        </p:nvSpPr>
        <p:spPr>
          <a:xfrm>
            <a:off x="6148626" y="6801683"/>
            <a:ext cx="7819549" cy="907971"/>
          </a:xfrm>
          <a:prstGeom prst="rect">
            <a:avLst/>
          </a:prstGeom>
          <a:noFill/>
          <a:ln/>
        </p:spPr>
        <p:txBody>
          <a:bodyPr wrap="square" lIns="0" tIns="0" rIns="0" bIns="0" rtlCol="0" anchor="t"/>
          <a:lstStyle/>
          <a:p>
            <a:pPr marL="0" indent="0" algn="l">
              <a:lnSpc>
                <a:spcPts val="2350"/>
              </a:lnSpc>
              <a:buNone/>
            </a:pPr>
            <a:r>
              <a:rPr lang="en-US" sz="1450" dirty="0">
                <a:solidFill>
                  <a:srgbClr val="E0E4E6"/>
                </a:solidFill>
                <a:latin typeface="Barlow" pitchFamily="34" charset="0"/>
                <a:ea typeface="Barlow" pitchFamily="34" charset="-122"/>
                <a:cs typeface="Barlow" pitchFamily="34" charset="-120"/>
              </a:rPr>
              <a:t>Our approach combines exploratory data analysis, anomaly detection through Isolation Forest algorithm, and classification using Random Forest. The results provide both accurate fraud prediction capabilities and valuable insights for prevention strategies.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4037" y="1366123"/>
            <a:ext cx="8374737" cy="685800"/>
          </a:xfrm>
          <a:prstGeom prst="rect">
            <a:avLst/>
          </a:prstGeom>
          <a:noFill/>
          <a:ln/>
        </p:spPr>
        <p:txBody>
          <a:bodyPr wrap="none" lIns="0" tIns="0" rIns="0" bIns="0" rtlCol="0" anchor="t"/>
          <a:lstStyle/>
          <a:p>
            <a:pPr marL="0" indent="0" algn="l">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Problem Statement &amp; Objectives</a:t>
            </a:r>
            <a:endParaRPr lang="en-US" sz="4300" dirty="0"/>
          </a:p>
        </p:txBody>
      </p:sp>
      <p:sp>
        <p:nvSpPr>
          <p:cNvPr id="3" name="Text 1"/>
          <p:cNvSpPr/>
          <p:nvPr/>
        </p:nvSpPr>
        <p:spPr>
          <a:xfrm>
            <a:off x="864037" y="2669024"/>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F0FCFF"/>
                </a:solidFill>
                <a:latin typeface="Spline Sans Bold" pitchFamily="34" charset="0"/>
                <a:ea typeface="Spline Sans Bold" pitchFamily="34" charset="-122"/>
                <a:cs typeface="Spline Sans Bold" pitchFamily="34" charset="-120"/>
              </a:rPr>
              <a:t>The Problem</a:t>
            </a:r>
            <a:endParaRPr lang="en-US" sz="2150" dirty="0"/>
          </a:p>
        </p:txBody>
      </p:sp>
      <p:sp>
        <p:nvSpPr>
          <p:cNvPr id="4" name="Text 2"/>
          <p:cNvSpPr/>
          <p:nvPr/>
        </p:nvSpPr>
        <p:spPr>
          <a:xfrm>
            <a:off x="864037" y="3258741"/>
            <a:ext cx="6150054" cy="1975247"/>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Traditional rule-based fraud detection systems struggle to identify evolving fraud patterns. Sophisticated fraudsters continuously adapt their techniques to bypass static controls. Meanwhile, legitimate customers face friction from false positives.</a:t>
            </a:r>
            <a:endParaRPr lang="en-US" sz="1900" dirty="0"/>
          </a:p>
        </p:txBody>
      </p:sp>
      <p:sp>
        <p:nvSpPr>
          <p:cNvPr id="5" name="Text 3"/>
          <p:cNvSpPr/>
          <p:nvPr/>
        </p:nvSpPr>
        <p:spPr>
          <a:xfrm>
            <a:off x="864037" y="5456158"/>
            <a:ext cx="6150054" cy="1185148"/>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Banks need dynamic solutions that can learn from historical data while adapting to new patterns without excessive manual intervention.</a:t>
            </a:r>
            <a:endParaRPr lang="en-US" sz="1900" dirty="0"/>
          </a:p>
        </p:txBody>
      </p:sp>
      <p:sp>
        <p:nvSpPr>
          <p:cNvPr id="6" name="Text 4"/>
          <p:cNvSpPr/>
          <p:nvPr/>
        </p:nvSpPr>
        <p:spPr>
          <a:xfrm>
            <a:off x="7623929" y="2669024"/>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F0FCFF"/>
                </a:solidFill>
                <a:latin typeface="Spline Sans Bold" pitchFamily="34" charset="0"/>
                <a:ea typeface="Spline Sans Bold" pitchFamily="34" charset="-122"/>
                <a:cs typeface="Spline Sans Bold" pitchFamily="34" charset="-120"/>
              </a:rPr>
              <a:t>Our Objectives</a:t>
            </a:r>
            <a:endParaRPr lang="en-US" sz="2150" dirty="0"/>
          </a:p>
        </p:txBody>
      </p:sp>
      <p:sp>
        <p:nvSpPr>
          <p:cNvPr id="7" name="Text 5"/>
          <p:cNvSpPr/>
          <p:nvPr/>
        </p:nvSpPr>
        <p:spPr>
          <a:xfrm>
            <a:off x="7623929" y="3258741"/>
            <a:ext cx="6150054" cy="790099"/>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0E4E6"/>
                </a:solidFill>
                <a:latin typeface="Barlow" pitchFamily="34" charset="0"/>
                <a:ea typeface="Barlow" pitchFamily="34" charset="-122"/>
                <a:cs typeface="Barlow" pitchFamily="34" charset="-120"/>
              </a:rPr>
              <a:t>Identify key indicators and patterns of fraudulent transactions</a:t>
            </a:r>
            <a:endParaRPr lang="en-US" sz="1900" dirty="0"/>
          </a:p>
        </p:txBody>
      </p:sp>
      <p:sp>
        <p:nvSpPr>
          <p:cNvPr id="8" name="Text 6"/>
          <p:cNvSpPr/>
          <p:nvPr/>
        </p:nvSpPr>
        <p:spPr>
          <a:xfrm>
            <a:off x="7623929" y="4135160"/>
            <a:ext cx="6150054" cy="790099"/>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0E4E6"/>
                </a:solidFill>
                <a:latin typeface="Barlow" pitchFamily="34" charset="0"/>
                <a:ea typeface="Barlow" pitchFamily="34" charset="-122"/>
                <a:cs typeface="Barlow" pitchFamily="34" charset="-120"/>
              </a:rPr>
              <a:t>Apply machine learning algorithms to detect anomalies in transaction data</a:t>
            </a:r>
            <a:endParaRPr lang="en-US" sz="1900" dirty="0"/>
          </a:p>
        </p:txBody>
      </p:sp>
      <p:sp>
        <p:nvSpPr>
          <p:cNvPr id="9" name="Text 7"/>
          <p:cNvSpPr/>
          <p:nvPr/>
        </p:nvSpPr>
        <p:spPr>
          <a:xfrm>
            <a:off x="7623929" y="5011579"/>
            <a:ext cx="6150054" cy="790099"/>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0E4E6"/>
                </a:solidFill>
                <a:latin typeface="Barlow" pitchFamily="34" charset="0"/>
                <a:ea typeface="Barlow" pitchFamily="34" charset="-122"/>
                <a:cs typeface="Barlow" pitchFamily="34" charset="-120"/>
              </a:rPr>
              <a:t>Improve detection accuracy through feature engineering and model tuning</a:t>
            </a:r>
            <a:endParaRPr lang="en-US" sz="1900" dirty="0"/>
          </a:p>
        </p:txBody>
      </p:sp>
      <p:sp>
        <p:nvSpPr>
          <p:cNvPr id="10" name="Text 8"/>
          <p:cNvSpPr/>
          <p:nvPr/>
        </p:nvSpPr>
        <p:spPr>
          <a:xfrm>
            <a:off x="7623929" y="5887998"/>
            <a:ext cx="6150054" cy="790099"/>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0E4E6"/>
                </a:solidFill>
                <a:latin typeface="Barlow" pitchFamily="34" charset="0"/>
                <a:ea typeface="Barlow" pitchFamily="34" charset="-122"/>
                <a:cs typeface="Barlow" pitchFamily="34" charset="-120"/>
              </a:rPr>
              <a:t>Minimize false positives while maximizing fraud capture rate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4363"/>
          </a:xfrm>
          <a:prstGeom prst="rect">
            <a:avLst/>
          </a:prstGeom>
        </p:spPr>
      </p:pic>
      <p:sp>
        <p:nvSpPr>
          <p:cNvPr id="3" name="Text 0"/>
          <p:cNvSpPr/>
          <p:nvPr/>
        </p:nvSpPr>
        <p:spPr>
          <a:xfrm>
            <a:off x="734020" y="576739"/>
            <a:ext cx="4660702" cy="582573"/>
          </a:xfrm>
          <a:prstGeom prst="rect">
            <a:avLst/>
          </a:prstGeom>
          <a:noFill/>
          <a:ln/>
        </p:spPr>
        <p:txBody>
          <a:bodyPr wrap="none" lIns="0" tIns="0" rIns="0" bIns="0" rtlCol="0" anchor="t"/>
          <a:lstStyle/>
          <a:p>
            <a:pPr marL="0" indent="0" algn="l">
              <a:lnSpc>
                <a:spcPts val="4550"/>
              </a:lnSpc>
              <a:buNone/>
            </a:pPr>
            <a:r>
              <a:rPr lang="en-US" sz="3650" b="1" dirty="0">
                <a:solidFill>
                  <a:srgbClr val="F0FCFF"/>
                </a:solidFill>
                <a:latin typeface="Spline Sans Bold" pitchFamily="34" charset="0"/>
                <a:ea typeface="Spline Sans Bold" pitchFamily="34" charset="-122"/>
                <a:cs typeface="Spline Sans Bold" pitchFamily="34" charset="-120"/>
              </a:rPr>
              <a:t>Dataset Overview</a:t>
            </a:r>
            <a:endParaRPr lang="en-US" sz="3650" dirty="0"/>
          </a:p>
        </p:txBody>
      </p:sp>
      <p:sp>
        <p:nvSpPr>
          <p:cNvPr id="4" name="Shape 1"/>
          <p:cNvSpPr/>
          <p:nvPr/>
        </p:nvSpPr>
        <p:spPr>
          <a:xfrm>
            <a:off x="734020" y="1473875"/>
            <a:ext cx="7675959" cy="3362563"/>
          </a:xfrm>
          <a:prstGeom prst="roundRect">
            <a:avLst>
              <a:gd name="adj" fmla="val 9356"/>
            </a:avLst>
          </a:prstGeom>
          <a:noFill/>
          <a:ln w="7620">
            <a:solidFill>
              <a:srgbClr val="FFFFFF">
                <a:alpha val="24000"/>
              </a:srgbClr>
            </a:solidFill>
            <a:prstDash val="solid"/>
          </a:ln>
        </p:spPr>
        <p:txBody>
          <a:bodyPr/>
          <a:lstStyle/>
          <a:p>
            <a:endParaRPr lang="en-IN"/>
          </a:p>
        </p:txBody>
      </p:sp>
      <p:sp>
        <p:nvSpPr>
          <p:cNvPr id="5" name="Shape 2"/>
          <p:cNvSpPr/>
          <p:nvPr/>
        </p:nvSpPr>
        <p:spPr>
          <a:xfrm>
            <a:off x="741640" y="1481495"/>
            <a:ext cx="7660719" cy="602337"/>
          </a:xfrm>
          <a:prstGeom prst="rect">
            <a:avLst/>
          </a:prstGeom>
          <a:solidFill>
            <a:srgbClr val="FFFFFF">
              <a:alpha val="4000"/>
            </a:srgbClr>
          </a:solidFill>
          <a:ln/>
        </p:spPr>
        <p:txBody>
          <a:bodyPr/>
          <a:lstStyle/>
          <a:p>
            <a:endParaRPr lang="en-IN"/>
          </a:p>
        </p:txBody>
      </p:sp>
      <p:sp>
        <p:nvSpPr>
          <p:cNvPr id="6" name="Text 3"/>
          <p:cNvSpPr/>
          <p:nvPr/>
        </p:nvSpPr>
        <p:spPr>
          <a:xfrm>
            <a:off x="951309" y="1614845"/>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Dataset Size</a:t>
            </a:r>
            <a:endParaRPr lang="en-US" sz="1650" dirty="0"/>
          </a:p>
        </p:txBody>
      </p:sp>
      <p:sp>
        <p:nvSpPr>
          <p:cNvPr id="7" name="Text 4"/>
          <p:cNvSpPr/>
          <p:nvPr/>
        </p:nvSpPr>
        <p:spPr>
          <a:xfrm>
            <a:off x="4785479" y="1614845"/>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2,512 transactions</a:t>
            </a:r>
            <a:endParaRPr lang="en-US" sz="1650" dirty="0"/>
          </a:p>
        </p:txBody>
      </p:sp>
      <p:sp>
        <p:nvSpPr>
          <p:cNvPr id="8" name="Shape 5"/>
          <p:cNvSpPr/>
          <p:nvPr/>
        </p:nvSpPr>
        <p:spPr>
          <a:xfrm>
            <a:off x="741640" y="2083832"/>
            <a:ext cx="7660719" cy="602337"/>
          </a:xfrm>
          <a:prstGeom prst="rect">
            <a:avLst/>
          </a:prstGeom>
          <a:solidFill>
            <a:srgbClr val="000000">
              <a:alpha val="4000"/>
            </a:srgbClr>
          </a:solidFill>
          <a:ln/>
        </p:spPr>
        <p:txBody>
          <a:bodyPr/>
          <a:lstStyle/>
          <a:p>
            <a:endParaRPr lang="en-IN"/>
          </a:p>
        </p:txBody>
      </p:sp>
      <p:sp>
        <p:nvSpPr>
          <p:cNvPr id="9" name="Text 6"/>
          <p:cNvSpPr/>
          <p:nvPr/>
        </p:nvSpPr>
        <p:spPr>
          <a:xfrm>
            <a:off x="951309" y="2217182"/>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Transaction Features</a:t>
            </a:r>
            <a:endParaRPr lang="en-US" sz="1650" dirty="0"/>
          </a:p>
        </p:txBody>
      </p:sp>
      <p:sp>
        <p:nvSpPr>
          <p:cNvPr id="10" name="Text 7"/>
          <p:cNvSpPr/>
          <p:nvPr/>
        </p:nvSpPr>
        <p:spPr>
          <a:xfrm>
            <a:off x="4785479" y="2217182"/>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Amount, Type, Timestamp</a:t>
            </a:r>
            <a:endParaRPr lang="en-US" sz="1650" dirty="0"/>
          </a:p>
        </p:txBody>
      </p:sp>
      <p:sp>
        <p:nvSpPr>
          <p:cNvPr id="11" name="Shape 8"/>
          <p:cNvSpPr/>
          <p:nvPr/>
        </p:nvSpPr>
        <p:spPr>
          <a:xfrm>
            <a:off x="741640" y="2686169"/>
            <a:ext cx="7660719" cy="602337"/>
          </a:xfrm>
          <a:prstGeom prst="rect">
            <a:avLst/>
          </a:prstGeom>
          <a:solidFill>
            <a:srgbClr val="FFFFFF">
              <a:alpha val="4000"/>
            </a:srgbClr>
          </a:solidFill>
          <a:ln/>
        </p:spPr>
        <p:txBody>
          <a:bodyPr/>
          <a:lstStyle/>
          <a:p>
            <a:endParaRPr lang="en-IN"/>
          </a:p>
        </p:txBody>
      </p:sp>
      <p:sp>
        <p:nvSpPr>
          <p:cNvPr id="12" name="Text 9"/>
          <p:cNvSpPr/>
          <p:nvPr/>
        </p:nvSpPr>
        <p:spPr>
          <a:xfrm>
            <a:off x="951309" y="2819519"/>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Channel Features</a:t>
            </a:r>
            <a:endParaRPr lang="en-US" sz="1650" dirty="0"/>
          </a:p>
        </p:txBody>
      </p:sp>
      <p:sp>
        <p:nvSpPr>
          <p:cNvPr id="13" name="Text 10"/>
          <p:cNvSpPr/>
          <p:nvPr/>
        </p:nvSpPr>
        <p:spPr>
          <a:xfrm>
            <a:off x="4785479" y="2819519"/>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Device ID, IP Address, Browser</a:t>
            </a:r>
            <a:endParaRPr lang="en-US" sz="1650" dirty="0"/>
          </a:p>
        </p:txBody>
      </p:sp>
      <p:sp>
        <p:nvSpPr>
          <p:cNvPr id="14" name="Shape 11"/>
          <p:cNvSpPr/>
          <p:nvPr/>
        </p:nvSpPr>
        <p:spPr>
          <a:xfrm>
            <a:off x="741640" y="3288506"/>
            <a:ext cx="7660719" cy="937974"/>
          </a:xfrm>
          <a:prstGeom prst="rect">
            <a:avLst/>
          </a:prstGeom>
          <a:solidFill>
            <a:srgbClr val="000000">
              <a:alpha val="4000"/>
            </a:srgbClr>
          </a:solidFill>
          <a:ln/>
        </p:spPr>
        <p:txBody>
          <a:bodyPr/>
          <a:lstStyle/>
          <a:p>
            <a:endParaRPr lang="en-IN"/>
          </a:p>
        </p:txBody>
      </p:sp>
      <p:sp>
        <p:nvSpPr>
          <p:cNvPr id="15" name="Text 12"/>
          <p:cNvSpPr/>
          <p:nvPr/>
        </p:nvSpPr>
        <p:spPr>
          <a:xfrm>
            <a:off x="951309" y="3421856"/>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Customer Features</a:t>
            </a:r>
            <a:endParaRPr lang="en-US" sz="1650" dirty="0"/>
          </a:p>
        </p:txBody>
      </p:sp>
      <p:sp>
        <p:nvSpPr>
          <p:cNvPr id="16" name="Text 13"/>
          <p:cNvSpPr/>
          <p:nvPr/>
        </p:nvSpPr>
        <p:spPr>
          <a:xfrm>
            <a:off x="4785479" y="3421856"/>
            <a:ext cx="3407212" cy="671274"/>
          </a:xfrm>
          <a:prstGeom prst="rect">
            <a:avLst/>
          </a:prstGeom>
          <a:noFill/>
          <a:ln/>
        </p:spPr>
        <p:txBody>
          <a:bodyPr wrap="squar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Age, Account Balance, Login Attempts</a:t>
            </a:r>
            <a:endParaRPr lang="en-US" sz="1650" dirty="0"/>
          </a:p>
        </p:txBody>
      </p:sp>
      <p:sp>
        <p:nvSpPr>
          <p:cNvPr id="17" name="Shape 14"/>
          <p:cNvSpPr/>
          <p:nvPr/>
        </p:nvSpPr>
        <p:spPr>
          <a:xfrm>
            <a:off x="741640" y="4226481"/>
            <a:ext cx="7660719" cy="602337"/>
          </a:xfrm>
          <a:prstGeom prst="rect">
            <a:avLst/>
          </a:prstGeom>
          <a:solidFill>
            <a:srgbClr val="FFFFFF">
              <a:alpha val="4000"/>
            </a:srgbClr>
          </a:solidFill>
          <a:ln/>
        </p:spPr>
        <p:txBody>
          <a:bodyPr/>
          <a:lstStyle/>
          <a:p>
            <a:endParaRPr lang="en-IN"/>
          </a:p>
        </p:txBody>
      </p:sp>
      <p:sp>
        <p:nvSpPr>
          <p:cNvPr id="18" name="Text 15"/>
          <p:cNvSpPr/>
          <p:nvPr/>
        </p:nvSpPr>
        <p:spPr>
          <a:xfrm>
            <a:off x="951309" y="4359831"/>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Data Quality</a:t>
            </a:r>
            <a:endParaRPr lang="en-US" sz="1650" dirty="0"/>
          </a:p>
        </p:txBody>
      </p:sp>
      <p:sp>
        <p:nvSpPr>
          <p:cNvPr id="19" name="Text 16"/>
          <p:cNvSpPr/>
          <p:nvPr/>
        </p:nvSpPr>
        <p:spPr>
          <a:xfrm>
            <a:off x="4785479" y="4359831"/>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No missing or duplicate values</a:t>
            </a:r>
            <a:endParaRPr lang="en-US" sz="1650" dirty="0"/>
          </a:p>
        </p:txBody>
      </p:sp>
      <p:sp>
        <p:nvSpPr>
          <p:cNvPr id="20" name="Text 17"/>
          <p:cNvSpPr/>
          <p:nvPr/>
        </p:nvSpPr>
        <p:spPr>
          <a:xfrm>
            <a:off x="734020" y="5072301"/>
            <a:ext cx="7675959" cy="1342549"/>
          </a:xfrm>
          <a:prstGeom prst="rect">
            <a:avLst/>
          </a:prstGeom>
          <a:noFill/>
          <a:ln/>
        </p:spPr>
        <p:txBody>
          <a:bodyPr wrap="squar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The Kaggle Bank Transaction Dataset provides a comprehensive view of banking activities, capturing both transaction-specific information and contextual data about the customer and channel. This rich dataset enables multi-dimensional analysis of transaction patterns.</a:t>
            </a:r>
            <a:endParaRPr lang="en-US" sz="1650" dirty="0"/>
          </a:p>
        </p:txBody>
      </p:sp>
      <p:sp>
        <p:nvSpPr>
          <p:cNvPr id="21" name="Text 18"/>
          <p:cNvSpPr/>
          <p:nvPr/>
        </p:nvSpPr>
        <p:spPr>
          <a:xfrm>
            <a:off x="734020" y="6650712"/>
            <a:ext cx="7675959" cy="1006912"/>
          </a:xfrm>
          <a:prstGeom prst="rect">
            <a:avLst/>
          </a:prstGeom>
          <a:noFill/>
          <a:ln/>
        </p:spPr>
        <p:txBody>
          <a:bodyPr wrap="squar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Initial data quality assessment revealed a well-curated dataset with no missing values or duplicates, allowing us to proceed directly to exploratory analysis without extensive cleaning procedures.</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0099" y="808792"/>
            <a:ext cx="7478554" cy="627102"/>
          </a:xfrm>
          <a:prstGeom prst="rect">
            <a:avLst/>
          </a:prstGeom>
          <a:noFill/>
          <a:ln/>
        </p:spPr>
        <p:txBody>
          <a:bodyPr wrap="none" lIns="0" tIns="0" rIns="0" bIns="0" rtlCol="0" anchor="t"/>
          <a:lstStyle/>
          <a:p>
            <a:pPr marL="0" indent="0" algn="l">
              <a:lnSpc>
                <a:spcPts val="4900"/>
              </a:lnSpc>
              <a:buNone/>
            </a:pPr>
            <a:r>
              <a:rPr lang="en-US" sz="3950" b="1" dirty="0">
                <a:solidFill>
                  <a:srgbClr val="F0FCFF"/>
                </a:solidFill>
                <a:latin typeface="Spline Sans Bold" pitchFamily="34" charset="0"/>
                <a:ea typeface="Spline Sans Bold" pitchFamily="34" charset="-122"/>
                <a:cs typeface="Spline Sans Bold" pitchFamily="34" charset="-120"/>
              </a:rPr>
              <a:t>Exploratory Data Analysis (EDA)</a:t>
            </a:r>
            <a:endParaRPr lang="en-US" sz="3950" dirty="0"/>
          </a:p>
        </p:txBody>
      </p:sp>
      <p:sp>
        <p:nvSpPr>
          <p:cNvPr id="3" name="Shape 1"/>
          <p:cNvSpPr/>
          <p:nvPr/>
        </p:nvSpPr>
        <p:spPr>
          <a:xfrm>
            <a:off x="790099" y="1887379"/>
            <a:ext cx="4199573" cy="4196120"/>
          </a:xfrm>
          <a:prstGeom prst="roundRect">
            <a:avLst>
              <a:gd name="adj" fmla="val 8071"/>
            </a:avLst>
          </a:prstGeom>
          <a:solidFill>
            <a:srgbClr val="0A081B"/>
          </a:solidFill>
          <a:ln w="22860">
            <a:solidFill>
              <a:srgbClr val="16FFBB"/>
            </a:solidFill>
            <a:prstDash val="solid"/>
          </a:ln>
        </p:spPr>
        <p:txBody>
          <a:bodyPr/>
          <a:lstStyle/>
          <a:p>
            <a:endParaRPr lang="en-IN"/>
          </a:p>
        </p:txBody>
      </p:sp>
      <p:sp>
        <p:nvSpPr>
          <p:cNvPr id="4" name="Text 2"/>
          <p:cNvSpPr/>
          <p:nvPr/>
        </p:nvSpPr>
        <p:spPr>
          <a:xfrm>
            <a:off x="1038701" y="2135981"/>
            <a:ext cx="2508528" cy="313492"/>
          </a:xfrm>
          <a:prstGeom prst="rect">
            <a:avLst/>
          </a:prstGeom>
          <a:noFill/>
          <a:ln/>
        </p:spPr>
        <p:txBody>
          <a:bodyPr wrap="none" lIns="0" tIns="0" rIns="0" bIns="0" rtlCol="0" anchor="t"/>
          <a:lstStyle/>
          <a:p>
            <a:pPr marL="0" indent="0" algn="l">
              <a:lnSpc>
                <a:spcPts val="2450"/>
              </a:lnSpc>
              <a:buNone/>
            </a:pPr>
            <a:r>
              <a:rPr lang="en-US" sz="1950" b="1" dirty="0">
                <a:solidFill>
                  <a:srgbClr val="E0E4E6"/>
                </a:solidFill>
                <a:latin typeface="Spline Sans Bold" pitchFamily="34" charset="0"/>
                <a:ea typeface="Spline Sans Bold" pitchFamily="34" charset="-122"/>
                <a:cs typeface="Spline Sans Bold" pitchFamily="34" charset="-120"/>
              </a:rPr>
              <a:t>Univariate Analysis</a:t>
            </a:r>
            <a:endParaRPr lang="en-US" sz="1950" dirty="0"/>
          </a:p>
        </p:txBody>
      </p:sp>
      <p:sp>
        <p:nvSpPr>
          <p:cNvPr id="5" name="Text 3"/>
          <p:cNvSpPr/>
          <p:nvPr/>
        </p:nvSpPr>
        <p:spPr>
          <a:xfrm>
            <a:off x="1038701" y="2584847"/>
            <a:ext cx="3702368" cy="325004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Transaction amounts follow a right-skewed distribution with most values under $1,000. Account balances cluster in three distinct groups, suggesting different customer segments. Transaction durations show bimodal distribution, indicating potential automated vs. manual processes.</a:t>
            </a:r>
            <a:endParaRPr lang="en-US" sz="1750" dirty="0"/>
          </a:p>
        </p:txBody>
      </p:sp>
      <p:sp>
        <p:nvSpPr>
          <p:cNvPr id="6" name="Shape 4"/>
          <p:cNvSpPr/>
          <p:nvPr/>
        </p:nvSpPr>
        <p:spPr>
          <a:xfrm>
            <a:off x="5215414" y="1887379"/>
            <a:ext cx="4199573" cy="4196120"/>
          </a:xfrm>
          <a:prstGeom prst="roundRect">
            <a:avLst>
              <a:gd name="adj" fmla="val 8071"/>
            </a:avLst>
          </a:prstGeom>
          <a:solidFill>
            <a:srgbClr val="0A081B"/>
          </a:solidFill>
          <a:ln w="22860">
            <a:solidFill>
              <a:srgbClr val="29DDDA"/>
            </a:solidFill>
            <a:prstDash val="solid"/>
          </a:ln>
        </p:spPr>
        <p:txBody>
          <a:bodyPr/>
          <a:lstStyle/>
          <a:p>
            <a:endParaRPr lang="en-IN"/>
          </a:p>
        </p:txBody>
      </p:sp>
      <p:sp>
        <p:nvSpPr>
          <p:cNvPr id="7" name="Text 5"/>
          <p:cNvSpPr/>
          <p:nvPr/>
        </p:nvSpPr>
        <p:spPr>
          <a:xfrm>
            <a:off x="5464016" y="2135981"/>
            <a:ext cx="2508528" cy="313492"/>
          </a:xfrm>
          <a:prstGeom prst="rect">
            <a:avLst/>
          </a:prstGeom>
          <a:noFill/>
          <a:ln/>
        </p:spPr>
        <p:txBody>
          <a:bodyPr wrap="none" lIns="0" tIns="0" rIns="0" bIns="0" rtlCol="0" anchor="t"/>
          <a:lstStyle/>
          <a:p>
            <a:pPr marL="0" indent="0" algn="l">
              <a:lnSpc>
                <a:spcPts val="2450"/>
              </a:lnSpc>
              <a:buNone/>
            </a:pPr>
            <a:r>
              <a:rPr lang="en-US" sz="1950" b="1" dirty="0">
                <a:solidFill>
                  <a:srgbClr val="E0E4E6"/>
                </a:solidFill>
                <a:latin typeface="Spline Sans Bold" pitchFamily="34" charset="0"/>
                <a:ea typeface="Spline Sans Bold" pitchFamily="34" charset="-122"/>
                <a:cs typeface="Spline Sans Bold" pitchFamily="34" charset="-120"/>
              </a:rPr>
              <a:t>Categorical Analysis</a:t>
            </a:r>
            <a:endParaRPr lang="en-US" sz="1950" dirty="0"/>
          </a:p>
        </p:txBody>
      </p:sp>
      <p:sp>
        <p:nvSpPr>
          <p:cNvPr id="8" name="Text 6"/>
          <p:cNvSpPr/>
          <p:nvPr/>
        </p:nvSpPr>
        <p:spPr>
          <a:xfrm>
            <a:off x="5464016" y="2584847"/>
            <a:ext cx="3702368" cy="2888933"/>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Credit transfers represent 42% of transactions, followed by debit card (28%) and wire transfers (16%). Location data shows metropolitan areas have higher transaction frequency. Professional occupations show distinct transaction behavior compared to other segments.</a:t>
            </a:r>
            <a:endParaRPr lang="en-US" sz="1750" dirty="0"/>
          </a:p>
        </p:txBody>
      </p:sp>
      <p:sp>
        <p:nvSpPr>
          <p:cNvPr id="9" name="Shape 7"/>
          <p:cNvSpPr/>
          <p:nvPr/>
        </p:nvSpPr>
        <p:spPr>
          <a:xfrm>
            <a:off x="9640729" y="1887379"/>
            <a:ext cx="4199573" cy="4196120"/>
          </a:xfrm>
          <a:prstGeom prst="roundRect">
            <a:avLst>
              <a:gd name="adj" fmla="val 8071"/>
            </a:avLst>
          </a:prstGeom>
          <a:solidFill>
            <a:srgbClr val="0A081B"/>
          </a:solidFill>
          <a:ln w="22860">
            <a:solidFill>
              <a:srgbClr val="37A7E7"/>
            </a:solidFill>
            <a:prstDash val="solid"/>
          </a:ln>
        </p:spPr>
        <p:txBody>
          <a:bodyPr/>
          <a:lstStyle/>
          <a:p>
            <a:endParaRPr lang="en-IN"/>
          </a:p>
        </p:txBody>
      </p:sp>
      <p:sp>
        <p:nvSpPr>
          <p:cNvPr id="10" name="Text 8"/>
          <p:cNvSpPr/>
          <p:nvPr/>
        </p:nvSpPr>
        <p:spPr>
          <a:xfrm>
            <a:off x="9889331" y="2135981"/>
            <a:ext cx="2508528" cy="313492"/>
          </a:xfrm>
          <a:prstGeom prst="rect">
            <a:avLst/>
          </a:prstGeom>
          <a:noFill/>
          <a:ln/>
        </p:spPr>
        <p:txBody>
          <a:bodyPr wrap="none" lIns="0" tIns="0" rIns="0" bIns="0" rtlCol="0" anchor="t"/>
          <a:lstStyle/>
          <a:p>
            <a:pPr marL="0" indent="0" algn="l">
              <a:lnSpc>
                <a:spcPts val="2450"/>
              </a:lnSpc>
              <a:buNone/>
            </a:pPr>
            <a:r>
              <a:rPr lang="en-US" sz="1950" b="1" dirty="0">
                <a:solidFill>
                  <a:srgbClr val="E0E4E6"/>
                </a:solidFill>
                <a:latin typeface="Spline Sans Bold" pitchFamily="34" charset="0"/>
                <a:ea typeface="Spline Sans Bold" pitchFamily="34" charset="-122"/>
                <a:cs typeface="Spline Sans Bold" pitchFamily="34" charset="-120"/>
              </a:rPr>
              <a:t>Temporal Patterns</a:t>
            </a:r>
            <a:endParaRPr lang="en-US" sz="1950" dirty="0"/>
          </a:p>
        </p:txBody>
      </p:sp>
      <p:sp>
        <p:nvSpPr>
          <p:cNvPr id="11" name="Text 9"/>
          <p:cNvSpPr/>
          <p:nvPr/>
        </p:nvSpPr>
        <p:spPr>
          <a:xfrm>
            <a:off x="9889331" y="2584847"/>
            <a:ext cx="3702368" cy="325004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Most transactions occur between 10AM and 4PM on weekdays. Transaction volume peaks on Fridays. Seasonal patterns show higher activity at month-end and during holiday periods. The time gap between consecutive transactions varies significantly by customer segment.</a:t>
            </a:r>
            <a:endParaRPr lang="en-US" sz="1750" dirty="0"/>
          </a:p>
        </p:txBody>
      </p:sp>
      <p:sp>
        <p:nvSpPr>
          <p:cNvPr id="12" name="Text 10"/>
          <p:cNvSpPr/>
          <p:nvPr/>
        </p:nvSpPr>
        <p:spPr>
          <a:xfrm>
            <a:off x="790099" y="6337459"/>
            <a:ext cx="13050203" cy="1083350"/>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Our EDA revealed several interesting patterns in customer behavior. Age and transaction behavior significantly vary by occupation, with younger professionals making more frequent but smaller transactions compared to older demographics who make fewer but larger transactions.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76156" y="532328"/>
            <a:ext cx="4293156" cy="536615"/>
          </a:xfrm>
          <a:prstGeom prst="rect">
            <a:avLst/>
          </a:prstGeom>
          <a:noFill/>
          <a:ln/>
        </p:spPr>
        <p:txBody>
          <a:bodyPr wrap="none" lIns="0" tIns="0" rIns="0" bIns="0" rtlCol="0" anchor="t"/>
          <a:lstStyle/>
          <a:p>
            <a:pPr marL="0" indent="0" algn="l">
              <a:lnSpc>
                <a:spcPts val="4200"/>
              </a:lnSpc>
              <a:buNone/>
            </a:pPr>
            <a:r>
              <a:rPr lang="en-US" sz="3350" b="1" dirty="0">
                <a:solidFill>
                  <a:srgbClr val="F0FCFF"/>
                </a:solidFill>
                <a:latin typeface="Spline Sans Bold" pitchFamily="34" charset="0"/>
                <a:ea typeface="Spline Sans Bold" pitchFamily="34" charset="-122"/>
                <a:cs typeface="Spline Sans Bold" pitchFamily="34" charset="-120"/>
              </a:rPr>
              <a:t>Feature Engineering</a:t>
            </a:r>
            <a:endParaRPr lang="en-US" sz="3350" dirty="0"/>
          </a:p>
        </p:txBody>
      </p:sp>
      <p:pic>
        <p:nvPicPr>
          <p:cNvPr id="3" name="Image 0" descr="preencoded.png"/>
          <p:cNvPicPr>
            <a:picLocks noChangeAspect="1"/>
          </p:cNvPicPr>
          <p:nvPr/>
        </p:nvPicPr>
        <p:blipFill>
          <a:blip r:embed="rId3"/>
          <a:stretch>
            <a:fillRect/>
          </a:stretch>
        </p:blipFill>
        <p:spPr>
          <a:xfrm>
            <a:off x="2900124" y="1455301"/>
            <a:ext cx="2190869" cy="1388507"/>
          </a:xfrm>
          <a:prstGeom prst="rect">
            <a:avLst/>
          </a:prstGeom>
        </p:spPr>
      </p:pic>
      <p:pic>
        <p:nvPicPr>
          <p:cNvPr id="4" name="Image 1" descr="preencoded.png"/>
          <p:cNvPicPr>
            <a:picLocks noChangeAspect="1"/>
          </p:cNvPicPr>
          <p:nvPr/>
        </p:nvPicPr>
        <p:blipFill>
          <a:blip r:embed="rId4"/>
          <a:stretch>
            <a:fillRect/>
          </a:stretch>
        </p:blipFill>
        <p:spPr>
          <a:xfrm>
            <a:off x="3859649" y="2159079"/>
            <a:ext cx="271582" cy="339566"/>
          </a:xfrm>
          <a:prstGeom prst="rect">
            <a:avLst/>
          </a:prstGeom>
        </p:spPr>
      </p:pic>
      <p:sp>
        <p:nvSpPr>
          <p:cNvPr id="5" name="Text 1"/>
          <p:cNvSpPr/>
          <p:nvPr/>
        </p:nvSpPr>
        <p:spPr>
          <a:xfrm>
            <a:off x="5284113" y="1802963"/>
            <a:ext cx="2146578" cy="268248"/>
          </a:xfrm>
          <a:prstGeom prst="rect">
            <a:avLst/>
          </a:prstGeom>
          <a:noFill/>
          <a:ln/>
        </p:spPr>
        <p:txBody>
          <a:bodyPr wrap="none" lIns="0" tIns="0" rIns="0" bIns="0" rtlCol="0" anchor="t"/>
          <a:lstStyle/>
          <a:p>
            <a:pPr marL="0" indent="0" algn="l">
              <a:lnSpc>
                <a:spcPts val="2100"/>
              </a:lnSpc>
              <a:buNone/>
            </a:pPr>
            <a:r>
              <a:rPr lang="en-US" sz="1650" b="1" dirty="0">
                <a:solidFill>
                  <a:srgbClr val="E0E4E6"/>
                </a:solidFill>
                <a:latin typeface="Spline Sans Bold" pitchFamily="34" charset="0"/>
                <a:ea typeface="Spline Sans Bold" pitchFamily="34" charset="-122"/>
                <a:cs typeface="Spline Sans Bold" pitchFamily="34" charset="-120"/>
              </a:rPr>
              <a:t>Temporal Features</a:t>
            </a:r>
            <a:endParaRPr lang="en-US" sz="1650" dirty="0"/>
          </a:p>
        </p:txBody>
      </p:sp>
      <p:sp>
        <p:nvSpPr>
          <p:cNvPr id="6" name="Text 2"/>
          <p:cNvSpPr/>
          <p:nvPr/>
        </p:nvSpPr>
        <p:spPr>
          <a:xfrm>
            <a:off x="5284113" y="2187059"/>
            <a:ext cx="4584621" cy="309086"/>
          </a:xfrm>
          <a:prstGeom prst="rect">
            <a:avLst/>
          </a:prstGeom>
          <a:noFill/>
          <a:ln/>
        </p:spPr>
        <p:txBody>
          <a:bodyPr wrap="non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TransactionHour, TransactionDay, WeekdayVsWeekend</a:t>
            </a:r>
            <a:endParaRPr lang="en-US" sz="1500" dirty="0"/>
          </a:p>
        </p:txBody>
      </p:sp>
      <p:sp>
        <p:nvSpPr>
          <p:cNvPr id="7" name="Shape 3"/>
          <p:cNvSpPr/>
          <p:nvPr/>
        </p:nvSpPr>
        <p:spPr>
          <a:xfrm>
            <a:off x="5139214" y="2858333"/>
            <a:ext cx="8766810" cy="11430"/>
          </a:xfrm>
          <a:prstGeom prst="roundRect">
            <a:avLst>
              <a:gd name="adj" fmla="val 2535336"/>
            </a:avLst>
          </a:prstGeom>
          <a:solidFill>
            <a:srgbClr val="16FFBB"/>
          </a:solidFill>
          <a:ln/>
        </p:spPr>
        <p:txBody>
          <a:bodyPr/>
          <a:lstStyle/>
          <a:p>
            <a:endParaRPr lang="en-IN"/>
          </a:p>
        </p:txBody>
      </p:sp>
      <p:pic>
        <p:nvPicPr>
          <p:cNvPr id="8" name="Image 2" descr="preencoded.png"/>
          <p:cNvPicPr>
            <a:picLocks noChangeAspect="1"/>
          </p:cNvPicPr>
          <p:nvPr/>
        </p:nvPicPr>
        <p:blipFill>
          <a:blip r:embed="rId5"/>
          <a:stretch>
            <a:fillRect/>
          </a:stretch>
        </p:blipFill>
        <p:spPr>
          <a:xfrm>
            <a:off x="1804749" y="2892028"/>
            <a:ext cx="4381738" cy="1388507"/>
          </a:xfrm>
          <a:prstGeom prst="rect">
            <a:avLst/>
          </a:prstGeom>
        </p:spPr>
      </p:pic>
      <p:pic>
        <p:nvPicPr>
          <p:cNvPr id="9" name="Image 3" descr="preencoded.png"/>
          <p:cNvPicPr>
            <a:picLocks noChangeAspect="1"/>
          </p:cNvPicPr>
          <p:nvPr/>
        </p:nvPicPr>
        <p:blipFill>
          <a:blip r:embed="rId6"/>
          <a:stretch>
            <a:fillRect/>
          </a:stretch>
        </p:blipFill>
        <p:spPr>
          <a:xfrm>
            <a:off x="3859768" y="3416498"/>
            <a:ext cx="271582" cy="339566"/>
          </a:xfrm>
          <a:prstGeom prst="rect">
            <a:avLst/>
          </a:prstGeom>
        </p:spPr>
      </p:pic>
      <p:sp>
        <p:nvSpPr>
          <p:cNvPr id="10" name="Text 4"/>
          <p:cNvSpPr/>
          <p:nvPr/>
        </p:nvSpPr>
        <p:spPr>
          <a:xfrm>
            <a:off x="6379607" y="3239691"/>
            <a:ext cx="2146578" cy="268248"/>
          </a:xfrm>
          <a:prstGeom prst="rect">
            <a:avLst/>
          </a:prstGeom>
          <a:noFill/>
          <a:ln/>
        </p:spPr>
        <p:txBody>
          <a:bodyPr wrap="none" lIns="0" tIns="0" rIns="0" bIns="0" rtlCol="0" anchor="t"/>
          <a:lstStyle/>
          <a:p>
            <a:pPr marL="0" indent="0" algn="l">
              <a:lnSpc>
                <a:spcPts val="2100"/>
              </a:lnSpc>
              <a:buNone/>
            </a:pPr>
            <a:r>
              <a:rPr lang="en-US" sz="1650" b="1" dirty="0">
                <a:solidFill>
                  <a:srgbClr val="E0E4E6"/>
                </a:solidFill>
                <a:latin typeface="Spline Sans Bold" pitchFamily="34" charset="0"/>
                <a:ea typeface="Spline Sans Bold" pitchFamily="34" charset="-122"/>
                <a:cs typeface="Spline Sans Bold" pitchFamily="34" charset="-120"/>
              </a:rPr>
              <a:t>Behavioral Features</a:t>
            </a:r>
            <a:endParaRPr lang="en-US" sz="1650" dirty="0"/>
          </a:p>
        </p:txBody>
      </p:sp>
      <p:sp>
        <p:nvSpPr>
          <p:cNvPr id="11" name="Text 5"/>
          <p:cNvSpPr/>
          <p:nvPr/>
        </p:nvSpPr>
        <p:spPr>
          <a:xfrm>
            <a:off x="6379607" y="3623786"/>
            <a:ext cx="6367343" cy="309086"/>
          </a:xfrm>
          <a:prstGeom prst="rect">
            <a:avLst/>
          </a:prstGeom>
          <a:noFill/>
          <a:ln/>
        </p:spPr>
        <p:txBody>
          <a:bodyPr wrap="non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TimeSinceLastTransaction, TransactionFrequency, LoginToTransactionTime</a:t>
            </a:r>
            <a:endParaRPr lang="en-US" sz="1500" dirty="0"/>
          </a:p>
        </p:txBody>
      </p:sp>
      <p:sp>
        <p:nvSpPr>
          <p:cNvPr id="12" name="Shape 6"/>
          <p:cNvSpPr/>
          <p:nvPr/>
        </p:nvSpPr>
        <p:spPr>
          <a:xfrm>
            <a:off x="6234708" y="4295061"/>
            <a:ext cx="7671316" cy="11430"/>
          </a:xfrm>
          <a:prstGeom prst="roundRect">
            <a:avLst>
              <a:gd name="adj" fmla="val 2535336"/>
            </a:avLst>
          </a:prstGeom>
          <a:solidFill>
            <a:srgbClr val="29DDDA"/>
          </a:solidFill>
          <a:ln/>
        </p:spPr>
        <p:txBody>
          <a:bodyPr/>
          <a:lstStyle/>
          <a:p>
            <a:endParaRPr lang="en-IN"/>
          </a:p>
        </p:txBody>
      </p:sp>
      <p:pic>
        <p:nvPicPr>
          <p:cNvPr id="13" name="Image 4" descr="preencoded.png"/>
          <p:cNvPicPr>
            <a:picLocks noChangeAspect="1"/>
          </p:cNvPicPr>
          <p:nvPr/>
        </p:nvPicPr>
        <p:blipFill>
          <a:blip r:embed="rId7"/>
          <a:stretch>
            <a:fillRect/>
          </a:stretch>
        </p:blipFill>
        <p:spPr>
          <a:xfrm>
            <a:off x="709255" y="4328755"/>
            <a:ext cx="6572607" cy="1388507"/>
          </a:xfrm>
          <a:prstGeom prst="rect">
            <a:avLst/>
          </a:prstGeom>
        </p:spPr>
      </p:pic>
      <p:pic>
        <p:nvPicPr>
          <p:cNvPr id="14" name="Image 5" descr="preencoded.png"/>
          <p:cNvPicPr>
            <a:picLocks noChangeAspect="1"/>
          </p:cNvPicPr>
          <p:nvPr/>
        </p:nvPicPr>
        <p:blipFill>
          <a:blip r:embed="rId8"/>
          <a:stretch>
            <a:fillRect/>
          </a:stretch>
        </p:blipFill>
        <p:spPr>
          <a:xfrm>
            <a:off x="3859649" y="4853226"/>
            <a:ext cx="271582" cy="339566"/>
          </a:xfrm>
          <a:prstGeom prst="rect">
            <a:avLst/>
          </a:prstGeom>
        </p:spPr>
      </p:pic>
      <p:sp>
        <p:nvSpPr>
          <p:cNvPr id="15" name="Text 7"/>
          <p:cNvSpPr/>
          <p:nvPr/>
        </p:nvSpPr>
        <p:spPr>
          <a:xfrm>
            <a:off x="7474982" y="4521875"/>
            <a:ext cx="2146578" cy="268248"/>
          </a:xfrm>
          <a:prstGeom prst="rect">
            <a:avLst/>
          </a:prstGeom>
          <a:noFill/>
          <a:ln/>
        </p:spPr>
        <p:txBody>
          <a:bodyPr wrap="none" lIns="0" tIns="0" rIns="0" bIns="0" rtlCol="0" anchor="t"/>
          <a:lstStyle/>
          <a:p>
            <a:pPr marL="0" indent="0" algn="l">
              <a:lnSpc>
                <a:spcPts val="2100"/>
              </a:lnSpc>
              <a:buNone/>
            </a:pPr>
            <a:r>
              <a:rPr lang="en-US" sz="1650" b="1" dirty="0">
                <a:solidFill>
                  <a:srgbClr val="E0E4E6"/>
                </a:solidFill>
                <a:latin typeface="Spline Sans Bold" pitchFamily="34" charset="0"/>
                <a:ea typeface="Spline Sans Bold" pitchFamily="34" charset="-122"/>
                <a:cs typeface="Spline Sans Bold" pitchFamily="34" charset="-120"/>
              </a:rPr>
              <a:t>Financial Features</a:t>
            </a:r>
            <a:endParaRPr lang="en-US" sz="1650" dirty="0"/>
          </a:p>
        </p:txBody>
      </p:sp>
      <p:sp>
        <p:nvSpPr>
          <p:cNvPr id="16" name="Text 8"/>
          <p:cNvSpPr/>
          <p:nvPr/>
        </p:nvSpPr>
        <p:spPr>
          <a:xfrm>
            <a:off x="7474982" y="4905970"/>
            <a:ext cx="6286143" cy="618173"/>
          </a:xfrm>
          <a:prstGeom prst="rect">
            <a:avLst/>
          </a:prstGeom>
          <a:noFill/>
          <a:ln/>
        </p:spPr>
        <p:txBody>
          <a:bodyPr wrap="squar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AmountToBalanceRatio, TypicalAmountDeviation, AmountVsHistoricalAverage</a:t>
            </a:r>
            <a:endParaRPr lang="en-US" sz="1500" dirty="0"/>
          </a:p>
        </p:txBody>
      </p:sp>
      <p:sp>
        <p:nvSpPr>
          <p:cNvPr id="17" name="Text 9"/>
          <p:cNvSpPr/>
          <p:nvPr/>
        </p:nvSpPr>
        <p:spPr>
          <a:xfrm>
            <a:off x="676156" y="5934551"/>
            <a:ext cx="13278088" cy="927259"/>
          </a:xfrm>
          <a:prstGeom prst="rect">
            <a:avLst/>
          </a:prstGeom>
          <a:noFill/>
          <a:ln/>
        </p:spPr>
        <p:txBody>
          <a:bodyPr wrap="squar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Feature engineering significantly enhanced the predictive power of our models. By extracting temporal features like transaction hour and day, we captured daily and weekly patterns in customer behavior. Behavioral features measured unusual activity cadence, while financial features identified transactions that deviated from established norms.</a:t>
            </a:r>
            <a:endParaRPr lang="en-US" sz="1500" dirty="0"/>
          </a:p>
        </p:txBody>
      </p:sp>
      <p:sp>
        <p:nvSpPr>
          <p:cNvPr id="18" name="Text 10"/>
          <p:cNvSpPr/>
          <p:nvPr/>
        </p:nvSpPr>
        <p:spPr>
          <a:xfrm>
            <a:off x="676156" y="7079099"/>
            <a:ext cx="13278088" cy="618173"/>
          </a:xfrm>
          <a:prstGeom prst="rect">
            <a:avLst/>
          </a:prstGeom>
          <a:noFill/>
          <a:ln/>
        </p:spPr>
        <p:txBody>
          <a:bodyPr wrap="squar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After feature extraction, we encoded categorical variables using one-hot encoding and dropped irrelevant identifiers like unique transaction IDs which don't contribute to pattern detection. The final preprocessed dataset contained 32 features ready for model training.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2944" y="544473"/>
            <a:ext cx="7567136" cy="550069"/>
          </a:xfrm>
          <a:prstGeom prst="rect">
            <a:avLst/>
          </a:prstGeom>
          <a:noFill/>
          <a:ln/>
        </p:spPr>
        <p:txBody>
          <a:bodyPr wrap="none" lIns="0" tIns="0" rIns="0" bIns="0" rtlCol="0" anchor="t"/>
          <a:lstStyle/>
          <a:p>
            <a:pPr marL="0" indent="0" algn="l">
              <a:lnSpc>
                <a:spcPts val="4300"/>
              </a:lnSpc>
              <a:buNone/>
            </a:pPr>
            <a:r>
              <a:rPr lang="en-US" sz="3450" b="1" dirty="0">
                <a:solidFill>
                  <a:srgbClr val="F0FCFF"/>
                </a:solidFill>
                <a:latin typeface="Spline Sans Bold" pitchFamily="34" charset="0"/>
                <a:ea typeface="Spline Sans Bold" pitchFamily="34" charset="-122"/>
                <a:cs typeface="Spline Sans Bold" pitchFamily="34" charset="-120"/>
              </a:rPr>
              <a:t>Anomaly Detection – Isolation Forest</a:t>
            </a:r>
            <a:endParaRPr lang="en-US" sz="3450" dirty="0"/>
          </a:p>
        </p:txBody>
      </p:sp>
      <p:sp>
        <p:nvSpPr>
          <p:cNvPr id="3" name="Text 1"/>
          <p:cNvSpPr/>
          <p:nvPr/>
        </p:nvSpPr>
        <p:spPr>
          <a:xfrm>
            <a:off x="2500432" y="2299097"/>
            <a:ext cx="2200037" cy="275034"/>
          </a:xfrm>
          <a:prstGeom prst="rect">
            <a:avLst/>
          </a:prstGeom>
          <a:noFill/>
          <a:ln/>
        </p:spPr>
        <p:txBody>
          <a:bodyPr wrap="none" lIns="0" tIns="0" rIns="0" bIns="0" rtlCol="0" anchor="t"/>
          <a:lstStyle/>
          <a:p>
            <a:pPr marL="0" indent="0" algn="r">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Isolation Principle</a:t>
            </a:r>
            <a:endParaRPr lang="en-US" sz="1700" dirty="0"/>
          </a:p>
        </p:txBody>
      </p:sp>
      <p:sp>
        <p:nvSpPr>
          <p:cNvPr id="4" name="Text 2"/>
          <p:cNvSpPr/>
          <p:nvPr/>
        </p:nvSpPr>
        <p:spPr>
          <a:xfrm>
            <a:off x="692944" y="2692837"/>
            <a:ext cx="4007525" cy="316706"/>
          </a:xfrm>
          <a:prstGeom prst="rect">
            <a:avLst/>
          </a:prstGeom>
          <a:noFill/>
          <a:ln/>
        </p:spPr>
        <p:txBody>
          <a:bodyPr wrap="none" lIns="0" tIns="0" rIns="0" bIns="0" rtlCol="0" anchor="t"/>
          <a:lstStyle/>
          <a:p>
            <a:pPr marL="0" indent="0" algn="r">
              <a:lnSpc>
                <a:spcPts val="2450"/>
              </a:lnSpc>
              <a:buNone/>
            </a:pPr>
            <a:r>
              <a:rPr lang="en-US" sz="1550" dirty="0">
                <a:solidFill>
                  <a:srgbClr val="E0E4E6"/>
                </a:solidFill>
                <a:latin typeface="Barlow" pitchFamily="34" charset="0"/>
                <a:ea typeface="Barlow" pitchFamily="34" charset="-122"/>
                <a:cs typeface="Barlow" pitchFamily="34" charset="-120"/>
              </a:rPr>
              <a:t>Anomalies require fewer splits to isolate</a:t>
            </a:r>
            <a:endParaRPr lang="en-US" sz="1550" dirty="0"/>
          </a:p>
        </p:txBody>
      </p:sp>
      <p:pic>
        <p:nvPicPr>
          <p:cNvPr id="5" name="Image 0" descr="preencoded.png"/>
          <p:cNvPicPr>
            <a:picLocks noChangeAspect="1"/>
          </p:cNvPicPr>
          <p:nvPr/>
        </p:nvPicPr>
        <p:blipFill>
          <a:blip r:embed="rId3"/>
          <a:stretch>
            <a:fillRect/>
          </a:stretch>
        </p:blipFill>
        <p:spPr>
          <a:xfrm>
            <a:off x="4997410" y="1490543"/>
            <a:ext cx="4635579" cy="4635579"/>
          </a:xfrm>
          <a:prstGeom prst="rect">
            <a:avLst/>
          </a:prstGeom>
        </p:spPr>
      </p:pic>
      <p:pic>
        <p:nvPicPr>
          <p:cNvPr id="6" name="Image 1" descr="preencoded.png"/>
          <p:cNvPicPr>
            <a:picLocks noChangeAspect="1"/>
          </p:cNvPicPr>
          <p:nvPr/>
        </p:nvPicPr>
        <p:blipFill>
          <a:blip r:embed="rId4"/>
          <a:stretch>
            <a:fillRect/>
          </a:stretch>
        </p:blipFill>
        <p:spPr>
          <a:xfrm>
            <a:off x="6234053" y="2295704"/>
            <a:ext cx="296228" cy="370284"/>
          </a:xfrm>
          <a:prstGeom prst="rect">
            <a:avLst/>
          </a:prstGeom>
        </p:spPr>
      </p:pic>
      <p:sp>
        <p:nvSpPr>
          <p:cNvPr id="7" name="Text 3"/>
          <p:cNvSpPr/>
          <p:nvPr/>
        </p:nvSpPr>
        <p:spPr>
          <a:xfrm>
            <a:off x="9929932" y="2140744"/>
            <a:ext cx="2200037" cy="275034"/>
          </a:xfrm>
          <a:prstGeom prst="rect">
            <a:avLst/>
          </a:prstGeom>
          <a:noFill/>
          <a:ln/>
        </p:spPr>
        <p:txBody>
          <a:bodyPr wrap="none" lIns="0" tIns="0" rIns="0" bIns="0" rtlCol="0" anchor="t"/>
          <a:lstStyle/>
          <a:p>
            <a:pPr marL="0" indent="0" algn="l">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Model Training</a:t>
            </a:r>
            <a:endParaRPr lang="en-US" sz="1700" dirty="0"/>
          </a:p>
        </p:txBody>
      </p:sp>
      <p:sp>
        <p:nvSpPr>
          <p:cNvPr id="8" name="Text 4"/>
          <p:cNvSpPr/>
          <p:nvPr/>
        </p:nvSpPr>
        <p:spPr>
          <a:xfrm>
            <a:off x="9929932" y="2534483"/>
            <a:ext cx="4007525" cy="633413"/>
          </a:xfrm>
          <a:prstGeom prst="rect">
            <a:avLst/>
          </a:prstGeom>
          <a:noFill/>
          <a:ln/>
        </p:spPr>
        <p:txBody>
          <a:bodyPr wrap="square" lIns="0" tIns="0" rIns="0" bIns="0" rtlCol="0" anchor="t"/>
          <a:lstStyle/>
          <a:p>
            <a:pPr marL="0" indent="0" algn="l">
              <a:lnSpc>
                <a:spcPts val="2450"/>
              </a:lnSpc>
              <a:buNone/>
            </a:pPr>
            <a:r>
              <a:rPr lang="en-US" sz="1550" dirty="0">
                <a:solidFill>
                  <a:srgbClr val="E0E4E6"/>
                </a:solidFill>
                <a:latin typeface="Barlow" pitchFamily="34" charset="0"/>
                <a:ea typeface="Barlow" pitchFamily="34" charset="-122"/>
                <a:cs typeface="Barlow" pitchFamily="34" charset="-120"/>
              </a:rPr>
              <a:t>Contamination set to 5% based on industry estimates</a:t>
            </a:r>
            <a:endParaRPr lang="en-US" sz="1550" dirty="0"/>
          </a:p>
        </p:txBody>
      </p:sp>
      <p:pic>
        <p:nvPicPr>
          <p:cNvPr id="9" name="Image 2" descr="preencoded.png"/>
          <p:cNvPicPr>
            <a:picLocks noChangeAspect="1"/>
          </p:cNvPicPr>
          <p:nvPr/>
        </p:nvPicPr>
        <p:blipFill>
          <a:blip r:embed="rId5"/>
          <a:stretch>
            <a:fillRect/>
          </a:stretch>
        </p:blipFill>
        <p:spPr>
          <a:xfrm>
            <a:off x="4997410" y="1490543"/>
            <a:ext cx="4635579" cy="4635579"/>
          </a:xfrm>
          <a:prstGeom prst="rect">
            <a:avLst/>
          </a:prstGeom>
        </p:spPr>
      </p:pic>
      <p:pic>
        <p:nvPicPr>
          <p:cNvPr id="10" name="Image 3" descr="preencoded.png"/>
          <p:cNvPicPr>
            <a:picLocks noChangeAspect="1"/>
          </p:cNvPicPr>
          <p:nvPr/>
        </p:nvPicPr>
        <p:blipFill>
          <a:blip r:embed="rId6"/>
          <a:stretch>
            <a:fillRect/>
          </a:stretch>
        </p:blipFill>
        <p:spPr>
          <a:xfrm>
            <a:off x="8494335" y="2690158"/>
            <a:ext cx="296228" cy="370284"/>
          </a:xfrm>
          <a:prstGeom prst="rect">
            <a:avLst/>
          </a:prstGeom>
        </p:spPr>
      </p:pic>
      <p:sp>
        <p:nvSpPr>
          <p:cNvPr id="11" name="Text 5"/>
          <p:cNvSpPr/>
          <p:nvPr/>
        </p:nvSpPr>
        <p:spPr>
          <a:xfrm>
            <a:off x="9929932" y="4765358"/>
            <a:ext cx="2354818" cy="275034"/>
          </a:xfrm>
          <a:prstGeom prst="rect">
            <a:avLst/>
          </a:prstGeom>
          <a:noFill/>
          <a:ln/>
        </p:spPr>
        <p:txBody>
          <a:bodyPr wrap="none" lIns="0" tIns="0" rIns="0" bIns="0" rtlCol="0" anchor="t"/>
          <a:lstStyle/>
          <a:p>
            <a:pPr marL="0" indent="0" algn="l">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Anomaly Identification</a:t>
            </a:r>
            <a:endParaRPr lang="en-US" sz="1700" dirty="0"/>
          </a:p>
        </p:txBody>
      </p:sp>
      <p:sp>
        <p:nvSpPr>
          <p:cNvPr id="12" name="Text 6"/>
          <p:cNvSpPr/>
          <p:nvPr/>
        </p:nvSpPr>
        <p:spPr>
          <a:xfrm>
            <a:off x="9929932" y="5159097"/>
            <a:ext cx="4007525" cy="316706"/>
          </a:xfrm>
          <a:prstGeom prst="rect">
            <a:avLst/>
          </a:prstGeom>
          <a:noFill/>
          <a:ln/>
        </p:spPr>
        <p:txBody>
          <a:bodyPr wrap="none" lIns="0" tIns="0" rIns="0" bIns="0" rtlCol="0" anchor="t"/>
          <a:lstStyle/>
          <a:p>
            <a:pPr marL="0" indent="0" algn="l">
              <a:lnSpc>
                <a:spcPts val="2450"/>
              </a:lnSpc>
              <a:buNone/>
            </a:pPr>
            <a:r>
              <a:rPr lang="en-US" sz="1550" dirty="0">
                <a:solidFill>
                  <a:srgbClr val="E0E4E6"/>
                </a:solidFill>
                <a:latin typeface="Barlow" pitchFamily="34" charset="0"/>
                <a:ea typeface="Barlow" pitchFamily="34" charset="-122"/>
                <a:cs typeface="Barlow" pitchFamily="34" charset="-120"/>
              </a:rPr>
              <a:t>126 suspicious transactions detected</a:t>
            </a:r>
            <a:endParaRPr lang="en-US" sz="1550" dirty="0"/>
          </a:p>
        </p:txBody>
      </p:sp>
      <p:pic>
        <p:nvPicPr>
          <p:cNvPr id="13" name="Image 4" descr="preencoded.png"/>
          <p:cNvPicPr>
            <a:picLocks noChangeAspect="1"/>
          </p:cNvPicPr>
          <p:nvPr/>
        </p:nvPicPr>
        <p:blipFill>
          <a:blip r:embed="rId7"/>
          <a:stretch>
            <a:fillRect/>
          </a:stretch>
        </p:blipFill>
        <p:spPr>
          <a:xfrm>
            <a:off x="4997410" y="1490543"/>
            <a:ext cx="4635579" cy="4635579"/>
          </a:xfrm>
          <a:prstGeom prst="rect">
            <a:avLst/>
          </a:prstGeom>
        </p:spPr>
      </p:pic>
      <p:pic>
        <p:nvPicPr>
          <p:cNvPr id="14" name="Image 5" descr="preencoded.png"/>
          <p:cNvPicPr>
            <a:picLocks noChangeAspect="1"/>
          </p:cNvPicPr>
          <p:nvPr/>
        </p:nvPicPr>
        <p:blipFill>
          <a:blip r:embed="rId8"/>
          <a:stretch>
            <a:fillRect/>
          </a:stretch>
        </p:blipFill>
        <p:spPr>
          <a:xfrm>
            <a:off x="8099881" y="4950440"/>
            <a:ext cx="296228" cy="370284"/>
          </a:xfrm>
          <a:prstGeom prst="rect">
            <a:avLst/>
          </a:prstGeom>
        </p:spPr>
      </p:pic>
      <p:sp>
        <p:nvSpPr>
          <p:cNvPr id="15" name="Text 7"/>
          <p:cNvSpPr/>
          <p:nvPr/>
        </p:nvSpPr>
        <p:spPr>
          <a:xfrm>
            <a:off x="2500432" y="4765358"/>
            <a:ext cx="2200037" cy="275034"/>
          </a:xfrm>
          <a:prstGeom prst="rect">
            <a:avLst/>
          </a:prstGeom>
          <a:noFill/>
          <a:ln/>
        </p:spPr>
        <p:txBody>
          <a:bodyPr wrap="none" lIns="0" tIns="0" rIns="0" bIns="0" rtlCol="0" anchor="t"/>
          <a:lstStyle/>
          <a:p>
            <a:pPr marL="0" indent="0" algn="r">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Pattern Visualization</a:t>
            </a:r>
            <a:endParaRPr lang="en-US" sz="1700" dirty="0"/>
          </a:p>
        </p:txBody>
      </p:sp>
      <p:sp>
        <p:nvSpPr>
          <p:cNvPr id="16" name="Text 8"/>
          <p:cNvSpPr/>
          <p:nvPr/>
        </p:nvSpPr>
        <p:spPr>
          <a:xfrm>
            <a:off x="692944" y="5159097"/>
            <a:ext cx="4007525" cy="316706"/>
          </a:xfrm>
          <a:prstGeom prst="rect">
            <a:avLst/>
          </a:prstGeom>
          <a:noFill/>
          <a:ln/>
        </p:spPr>
        <p:txBody>
          <a:bodyPr wrap="none" lIns="0" tIns="0" rIns="0" bIns="0" rtlCol="0" anchor="t"/>
          <a:lstStyle/>
          <a:p>
            <a:pPr marL="0" indent="0" algn="r">
              <a:lnSpc>
                <a:spcPts val="2450"/>
              </a:lnSpc>
              <a:buNone/>
            </a:pPr>
            <a:r>
              <a:rPr lang="en-US" sz="1550" dirty="0">
                <a:solidFill>
                  <a:srgbClr val="E0E4E6"/>
                </a:solidFill>
                <a:latin typeface="Barlow" pitchFamily="34" charset="0"/>
                <a:ea typeface="Barlow" pitchFamily="34" charset="-122"/>
                <a:cs typeface="Barlow" pitchFamily="34" charset="-120"/>
              </a:rPr>
              <a:t>Anomalies cluster in specific regions</a:t>
            </a:r>
            <a:endParaRPr lang="en-US" sz="1550" dirty="0"/>
          </a:p>
        </p:txBody>
      </p:sp>
      <p:pic>
        <p:nvPicPr>
          <p:cNvPr id="17" name="Image 6" descr="preencoded.png"/>
          <p:cNvPicPr>
            <a:picLocks noChangeAspect="1"/>
          </p:cNvPicPr>
          <p:nvPr/>
        </p:nvPicPr>
        <p:blipFill>
          <a:blip r:embed="rId9"/>
          <a:stretch>
            <a:fillRect/>
          </a:stretch>
        </p:blipFill>
        <p:spPr>
          <a:xfrm>
            <a:off x="4997410" y="1490543"/>
            <a:ext cx="4635579" cy="4635579"/>
          </a:xfrm>
          <a:prstGeom prst="rect">
            <a:avLst/>
          </a:prstGeom>
        </p:spPr>
      </p:pic>
      <p:pic>
        <p:nvPicPr>
          <p:cNvPr id="18" name="Image 7" descr="preencoded.png"/>
          <p:cNvPicPr>
            <a:picLocks noChangeAspect="1"/>
          </p:cNvPicPr>
          <p:nvPr/>
        </p:nvPicPr>
        <p:blipFill>
          <a:blip r:embed="rId10"/>
          <a:stretch>
            <a:fillRect/>
          </a:stretch>
        </p:blipFill>
        <p:spPr>
          <a:xfrm>
            <a:off x="5839599" y="4555986"/>
            <a:ext cx="296228" cy="370284"/>
          </a:xfrm>
          <a:prstGeom prst="rect">
            <a:avLst/>
          </a:prstGeom>
        </p:spPr>
      </p:pic>
      <p:sp>
        <p:nvSpPr>
          <p:cNvPr id="19" name="Text 9"/>
          <p:cNvSpPr/>
          <p:nvPr/>
        </p:nvSpPr>
        <p:spPr>
          <a:xfrm>
            <a:off x="692944" y="6348770"/>
            <a:ext cx="13244513" cy="633413"/>
          </a:xfrm>
          <a:prstGeom prst="rect">
            <a:avLst/>
          </a:prstGeom>
          <a:noFill/>
          <a:ln/>
        </p:spPr>
        <p:txBody>
          <a:bodyPr wrap="square" lIns="0" tIns="0" rIns="0" bIns="0" rtlCol="0" anchor="t"/>
          <a:lstStyle/>
          <a:p>
            <a:pPr marL="0" indent="0" algn="l">
              <a:lnSpc>
                <a:spcPts val="2450"/>
              </a:lnSpc>
              <a:buNone/>
            </a:pPr>
            <a:r>
              <a:rPr lang="en-US" sz="1550" dirty="0">
                <a:solidFill>
                  <a:srgbClr val="E0E4E6"/>
                </a:solidFill>
                <a:latin typeface="Barlow" pitchFamily="34" charset="0"/>
                <a:ea typeface="Barlow" pitchFamily="34" charset="-122"/>
                <a:cs typeface="Barlow" pitchFamily="34" charset="-120"/>
              </a:rPr>
              <a:t>We employed the Isolation Forest algorithm to identify anomalous transactions based on their isolation characteristics. This unsupervised approach excels at detecting outliers in high-dimensional spaces without requiring labeled training data.</a:t>
            </a:r>
            <a:endParaRPr lang="en-US" sz="1550" dirty="0"/>
          </a:p>
        </p:txBody>
      </p:sp>
      <p:sp>
        <p:nvSpPr>
          <p:cNvPr id="20" name="Text 10"/>
          <p:cNvSpPr/>
          <p:nvPr/>
        </p:nvSpPr>
        <p:spPr>
          <a:xfrm>
            <a:off x="692944" y="7204829"/>
            <a:ext cx="13244513" cy="633413"/>
          </a:xfrm>
          <a:prstGeom prst="rect">
            <a:avLst/>
          </a:prstGeom>
          <a:noFill/>
          <a:ln/>
        </p:spPr>
        <p:txBody>
          <a:bodyPr wrap="square" lIns="0" tIns="0" rIns="0" bIns="0" rtlCol="0" anchor="t"/>
          <a:lstStyle/>
          <a:p>
            <a:pPr marL="0" indent="0" algn="l">
              <a:lnSpc>
                <a:spcPts val="2450"/>
              </a:lnSpc>
              <a:buNone/>
            </a:pPr>
            <a:r>
              <a:rPr lang="en-US" sz="1550" dirty="0">
                <a:solidFill>
                  <a:srgbClr val="E0E4E6"/>
                </a:solidFill>
                <a:latin typeface="Barlow" pitchFamily="34" charset="0"/>
                <a:ea typeface="Barlow" pitchFamily="34" charset="-122"/>
                <a:cs typeface="Barlow" pitchFamily="34" charset="-120"/>
              </a:rPr>
              <a:t>The model identified 126 potential anomalies (approximately 5% of transactions). When visualized, these anomalies clustered predominantly in zones characterized by low account balances paired with unusually high transaction amounts – a well-known fraud indicator in financial transactions.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9501" y="685562"/>
            <a:ext cx="8528804" cy="610791"/>
          </a:xfrm>
          <a:prstGeom prst="rect">
            <a:avLst/>
          </a:prstGeom>
          <a:noFill/>
          <a:ln/>
        </p:spPr>
        <p:txBody>
          <a:bodyPr wrap="none" lIns="0" tIns="0" rIns="0" bIns="0" rtlCol="0" anchor="t"/>
          <a:lstStyle/>
          <a:p>
            <a:pPr marL="0" indent="0" algn="l">
              <a:lnSpc>
                <a:spcPts val="4800"/>
              </a:lnSpc>
              <a:buNone/>
            </a:pPr>
            <a:r>
              <a:rPr lang="en-US" sz="3800" b="1" dirty="0">
                <a:solidFill>
                  <a:srgbClr val="F0FCFF"/>
                </a:solidFill>
                <a:latin typeface="Spline Sans Bold" pitchFamily="34" charset="0"/>
                <a:ea typeface="Spline Sans Bold" pitchFamily="34" charset="-122"/>
                <a:cs typeface="Spline Sans Bold" pitchFamily="34" charset="-120"/>
              </a:rPr>
              <a:t>Predictive Modeling – Random Forest</a:t>
            </a:r>
            <a:endParaRPr lang="en-US" sz="3800" dirty="0"/>
          </a:p>
        </p:txBody>
      </p:sp>
      <p:sp>
        <p:nvSpPr>
          <p:cNvPr id="3" name="Shape 1"/>
          <p:cNvSpPr/>
          <p:nvPr/>
        </p:nvSpPr>
        <p:spPr>
          <a:xfrm>
            <a:off x="769501" y="1736050"/>
            <a:ext cx="2181820" cy="1228725"/>
          </a:xfrm>
          <a:prstGeom prst="roundRect">
            <a:avLst>
              <a:gd name="adj" fmla="val 26843"/>
            </a:avLst>
          </a:prstGeom>
          <a:solidFill>
            <a:srgbClr val="0A081B"/>
          </a:solidFill>
          <a:ln w="22860">
            <a:solidFill>
              <a:srgbClr val="16FFBB"/>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1705808" y="2157174"/>
            <a:ext cx="309205" cy="386477"/>
          </a:xfrm>
          <a:prstGeom prst="rect">
            <a:avLst/>
          </a:prstGeom>
        </p:spPr>
      </p:pic>
      <p:sp>
        <p:nvSpPr>
          <p:cNvPr id="5" name="Text 2"/>
          <p:cNvSpPr/>
          <p:nvPr/>
        </p:nvSpPr>
        <p:spPr>
          <a:xfrm>
            <a:off x="3171111" y="1955840"/>
            <a:ext cx="2443043" cy="305395"/>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Anomaly Labeling</a:t>
            </a:r>
            <a:endParaRPr lang="en-US" sz="1900" dirty="0"/>
          </a:p>
        </p:txBody>
      </p:sp>
      <p:sp>
        <p:nvSpPr>
          <p:cNvPr id="6" name="Text 3"/>
          <p:cNvSpPr/>
          <p:nvPr/>
        </p:nvSpPr>
        <p:spPr>
          <a:xfrm>
            <a:off x="3171111" y="2393156"/>
            <a:ext cx="4388406" cy="351830"/>
          </a:xfrm>
          <a:prstGeom prst="rect">
            <a:avLst/>
          </a:prstGeom>
          <a:noFill/>
          <a:ln/>
        </p:spPr>
        <p:txBody>
          <a:bodyPr wrap="non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Used Isolation Forest results as target variable</a:t>
            </a:r>
            <a:endParaRPr lang="en-US" sz="1700" dirty="0"/>
          </a:p>
        </p:txBody>
      </p:sp>
      <p:sp>
        <p:nvSpPr>
          <p:cNvPr id="7" name="Shape 4"/>
          <p:cNvSpPr/>
          <p:nvPr/>
        </p:nvSpPr>
        <p:spPr>
          <a:xfrm>
            <a:off x="3061216" y="2949535"/>
            <a:ext cx="10689788" cy="15240"/>
          </a:xfrm>
          <a:prstGeom prst="roundRect">
            <a:avLst>
              <a:gd name="adj" fmla="val 2164182"/>
            </a:avLst>
          </a:prstGeom>
          <a:solidFill>
            <a:srgbClr val="16FFBB"/>
          </a:solidFill>
          <a:ln/>
        </p:spPr>
        <p:txBody>
          <a:bodyPr/>
          <a:lstStyle/>
          <a:p>
            <a:endParaRPr lang="en-IN"/>
          </a:p>
        </p:txBody>
      </p:sp>
      <p:sp>
        <p:nvSpPr>
          <p:cNvPr id="8" name="Shape 5"/>
          <p:cNvSpPr/>
          <p:nvPr/>
        </p:nvSpPr>
        <p:spPr>
          <a:xfrm>
            <a:off x="769501" y="3074670"/>
            <a:ext cx="4363760" cy="1228725"/>
          </a:xfrm>
          <a:prstGeom prst="roundRect">
            <a:avLst>
              <a:gd name="adj" fmla="val 26843"/>
            </a:avLst>
          </a:prstGeom>
          <a:solidFill>
            <a:srgbClr val="0A081B"/>
          </a:solidFill>
          <a:ln w="22860">
            <a:solidFill>
              <a:srgbClr val="29DDDA"/>
            </a:solidFill>
            <a:prstDash val="solid"/>
          </a:ln>
        </p:spPr>
        <p:txBody>
          <a:bodyPr/>
          <a:lstStyle/>
          <a:p>
            <a:endParaRPr lang="en-IN"/>
          </a:p>
        </p:txBody>
      </p:sp>
      <p:pic>
        <p:nvPicPr>
          <p:cNvPr id="9" name="Image 1" descr="preencoded.png"/>
          <p:cNvPicPr>
            <a:picLocks noChangeAspect="1"/>
          </p:cNvPicPr>
          <p:nvPr/>
        </p:nvPicPr>
        <p:blipFill>
          <a:blip r:embed="rId4"/>
          <a:stretch>
            <a:fillRect/>
          </a:stretch>
        </p:blipFill>
        <p:spPr>
          <a:xfrm>
            <a:off x="2796778" y="3495794"/>
            <a:ext cx="309205" cy="386477"/>
          </a:xfrm>
          <a:prstGeom prst="rect">
            <a:avLst/>
          </a:prstGeom>
        </p:spPr>
      </p:pic>
      <p:sp>
        <p:nvSpPr>
          <p:cNvPr id="10" name="Text 6"/>
          <p:cNvSpPr/>
          <p:nvPr/>
        </p:nvSpPr>
        <p:spPr>
          <a:xfrm>
            <a:off x="5353050" y="3294459"/>
            <a:ext cx="2443043" cy="305395"/>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Model Training</a:t>
            </a:r>
            <a:endParaRPr lang="en-US" sz="1900" dirty="0"/>
          </a:p>
        </p:txBody>
      </p:sp>
      <p:sp>
        <p:nvSpPr>
          <p:cNvPr id="11" name="Text 7"/>
          <p:cNvSpPr/>
          <p:nvPr/>
        </p:nvSpPr>
        <p:spPr>
          <a:xfrm>
            <a:off x="5353050" y="3731776"/>
            <a:ext cx="4295180" cy="351830"/>
          </a:xfrm>
          <a:prstGeom prst="rect">
            <a:avLst/>
          </a:prstGeom>
          <a:noFill/>
          <a:ln/>
        </p:spPr>
        <p:txBody>
          <a:bodyPr wrap="non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Random Forest with default hyperparameters</a:t>
            </a:r>
            <a:endParaRPr lang="en-US" sz="1700" dirty="0"/>
          </a:p>
        </p:txBody>
      </p:sp>
      <p:sp>
        <p:nvSpPr>
          <p:cNvPr id="12" name="Shape 8"/>
          <p:cNvSpPr/>
          <p:nvPr/>
        </p:nvSpPr>
        <p:spPr>
          <a:xfrm>
            <a:off x="5243155" y="4288155"/>
            <a:ext cx="8507849" cy="15240"/>
          </a:xfrm>
          <a:prstGeom prst="roundRect">
            <a:avLst>
              <a:gd name="adj" fmla="val 2164182"/>
            </a:avLst>
          </a:prstGeom>
          <a:solidFill>
            <a:srgbClr val="29DDDA"/>
          </a:solidFill>
          <a:ln/>
        </p:spPr>
        <p:txBody>
          <a:bodyPr/>
          <a:lstStyle/>
          <a:p>
            <a:endParaRPr lang="en-IN"/>
          </a:p>
        </p:txBody>
      </p:sp>
      <p:sp>
        <p:nvSpPr>
          <p:cNvPr id="13" name="Shape 9"/>
          <p:cNvSpPr/>
          <p:nvPr/>
        </p:nvSpPr>
        <p:spPr>
          <a:xfrm>
            <a:off x="769501" y="4413290"/>
            <a:ext cx="6545699" cy="1228725"/>
          </a:xfrm>
          <a:prstGeom prst="roundRect">
            <a:avLst>
              <a:gd name="adj" fmla="val 26843"/>
            </a:avLst>
          </a:prstGeom>
          <a:solidFill>
            <a:srgbClr val="0A081B"/>
          </a:solidFill>
          <a:ln w="22860">
            <a:solidFill>
              <a:srgbClr val="37A7E7"/>
            </a:solidFill>
            <a:prstDash val="solid"/>
          </a:ln>
        </p:spPr>
        <p:txBody>
          <a:bodyPr/>
          <a:lstStyle/>
          <a:p>
            <a:endParaRPr lang="en-IN"/>
          </a:p>
        </p:txBody>
      </p:sp>
      <p:pic>
        <p:nvPicPr>
          <p:cNvPr id="14" name="Image 2" descr="preencoded.png"/>
          <p:cNvPicPr>
            <a:picLocks noChangeAspect="1"/>
          </p:cNvPicPr>
          <p:nvPr/>
        </p:nvPicPr>
        <p:blipFill>
          <a:blip r:embed="rId5"/>
          <a:stretch>
            <a:fillRect/>
          </a:stretch>
        </p:blipFill>
        <p:spPr>
          <a:xfrm>
            <a:off x="3887748" y="4834414"/>
            <a:ext cx="309205" cy="386477"/>
          </a:xfrm>
          <a:prstGeom prst="rect">
            <a:avLst/>
          </a:prstGeom>
        </p:spPr>
      </p:pic>
      <p:sp>
        <p:nvSpPr>
          <p:cNvPr id="15" name="Text 10"/>
          <p:cNvSpPr/>
          <p:nvPr/>
        </p:nvSpPr>
        <p:spPr>
          <a:xfrm>
            <a:off x="7534989" y="4633079"/>
            <a:ext cx="2443043" cy="305395"/>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Model Evaluation</a:t>
            </a:r>
            <a:endParaRPr lang="en-US" sz="1900" dirty="0"/>
          </a:p>
        </p:txBody>
      </p:sp>
      <p:sp>
        <p:nvSpPr>
          <p:cNvPr id="16" name="Text 11"/>
          <p:cNvSpPr/>
          <p:nvPr/>
        </p:nvSpPr>
        <p:spPr>
          <a:xfrm>
            <a:off x="7534989" y="5070396"/>
            <a:ext cx="4479846" cy="351830"/>
          </a:xfrm>
          <a:prstGeom prst="rect">
            <a:avLst/>
          </a:prstGeom>
          <a:noFill/>
          <a:ln/>
        </p:spPr>
        <p:txBody>
          <a:bodyPr wrap="non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97% accuracy with 0.81 precision on fraud class</a:t>
            </a:r>
            <a:endParaRPr lang="en-US" sz="1700" dirty="0"/>
          </a:p>
        </p:txBody>
      </p:sp>
      <p:sp>
        <p:nvSpPr>
          <p:cNvPr id="17" name="Text 12"/>
          <p:cNvSpPr/>
          <p:nvPr/>
        </p:nvSpPr>
        <p:spPr>
          <a:xfrm>
            <a:off x="769501" y="5889308"/>
            <a:ext cx="13091398" cy="703659"/>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Using the anomaly labels generated by the Isolation Forest as our target variable, we trained a Random Forest classifier to predict fraudulent transactions. The dataset was split into 80% training and 20% testing sets, maintaining the same class distribution.</a:t>
            </a:r>
            <a:endParaRPr lang="en-US" sz="1700" dirty="0"/>
          </a:p>
        </p:txBody>
      </p:sp>
      <p:sp>
        <p:nvSpPr>
          <p:cNvPr id="18" name="Text 13"/>
          <p:cNvSpPr/>
          <p:nvPr/>
        </p:nvSpPr>
        <p:spPr>
          <a:xfrm>
            <a:off x="769501" y="6840260"/>
            <a:ext cx="13091398" cy="703659"/>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The Random Forest achieved 97% overall accuracy, with 0.81 precision and 0.52 recall on the fraud class, resulting in an F1-score of 0.63. While the overall accuracy is excellent, the recall indicates room for improvement in capturing all fraudulent transactions.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78073" y="611862"/>
            <a:ext cx="4940618" cy="617577"/>
          </a:xfrm>
          <a:prstGeom prst="rect">
            <a:avLst/>
          </a:prstGeom>
          <a:noFill/>
          <a:ln/>
        </p:spPr>
        <p:txBody>
          <a:bodyPr wrap="none" lIns="0" tIns="0" rIns="0" bIns="0" rtlCol="0" anchor="t"/>
          <a:lstStyle/>
          <a:p>
            <a:pPr marL="0" indent="0" algn="l">
              <a:lnSpc>
                <a:spcPts val="4850"/>
              </a:lnSpc>
              <a:buNone/>
            </a:pPr>
            <a:r>
              <a:rPr lang="en-US" sz="3850" b="1" dirty="0">
                <a:solidFill>
                  <a:srgbClr val="F0FCFF"/>
                </a:solidFill>
                <a:latin typeface="Spline Sans Bold" pitchFamily="34" charset="0"/>
                <a:ea typeface="Spline Sans Bold" pitchFamily="34" charset="-122"/>
                <a:cs typeface="Spline Sans Bold" pitchFamily="34" charset="-120"/>
              </a:rPr>
              <a:t>Model Improvement</a:t>
            </a:r>
            <a:endParaRPr lang="en-US" sz="3850" dirty="0"/>
          </a:p>
        </p:txBody>
      </p:sp>
      <p:pic>
        <p:nvPicPr>
          <p:cNvPr id="3" name="Image 0" descr="preencoded.png"/>
          <p:cNvPicPr>
            <a:picLocks noChangeAspect="1"/>
          </p:cNvPicPr>
          <p:nvPr/>
        </p:nvPicPr>
        <p:blipFill>
          <a:blip r:embed="rId3"/>
          <a:stretch>
            <a:fillRect/>
          </a:stretch>
        </p:blipFill>
        <p:spPr>
          <a:xfrm>
            <a:off x="778073" y="1674019"/>
            <a:ext cx="3268504" cy="889278"/>
          </a:xfrm>
          <a:prstGeom prst="rect">
            <a:avLst/>
          </a:prstGeom>
        </p:spPr>
      </p:pic>
      <p:sp>
        <p:nvSpPr>
          <p:cNvPr id="4" name="Text 1"/>
          <p:cNvSpPr/>
          <p:nvPr/>
        </p:nvSpPr>
        <p:spPr>
          <a:xfrm>
            <a:off x="1000363" y="2896791"/>
            <a:ext cx="2470309" cy="308729"/>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Parameter Selection</a:t>
            </a:r>
            <a:endParaRPr lang="en-US" sz="1900" dirty="0"/>
          </a:p>
        </p:txBody>
      </p:sp>
      <p:sp>
        <p:nvSpPr>
          <p:cNvPr id="5" name="Text 2"/>
          <p:cNvSpPr/>
          <p:nvPr/>
        </p:nvSpPr>
        <p:spPr>
          <a:xfrm>
            <a:off x="1000363" y="3338870"/>
            <a:ext cx="2823924" cy="142255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Identified key hyperparameters: n_estimators, max_depth, max_features</a:t>
            </a:r>
            <a:endParaRPr lang="en-US" sz="1750" dirty="0"/>
          </a:p>
        </p:txBody>
      </p:sp>
      <p:pic>
        <p:nvPicPr>
          <p:cNvPr id="6" name="Image 1" descr="preencoded.png"/>
          <p:cNvPicPr>
            <a:picLocks noChangeAspect="1"/>
          </p:cNvPicPr>
          <p:nvPr/>
        </p:nvPicPr>
        <p:blipFill>
          <a:blip r:embed="rId4"/>
          <a:stretch>
            <a:fillRect/>
          </a:stretch>
        </p:blipFill>
        <p:spPr>
          <a:xfrm>
            <a:off x="4046577" y="1674019"/>
            <a:ext cx="3268623" cy="889278"/>
          </a:xfrm>
          <a:prstGeom prst="rect">
            <a:avLst/>
          </a:prstGeom>
        </p:spPr>
      </p:pic>
      <p:sp>
        <p:nvSpPr>
          <p:cNvPr id="7" name="Text 3"/>
          <p:cNvSpPr/>
          <p:nvPr/>
        </p:nvSpPr>
        <p:spPr>
          <a:xfrm>
            <a:off x="4268867" y="2896791"/>
            <a:ext cx="2470309" cy="308729"/>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Grid Search</a:t>
            </a:r>
            <a:endParaRPr lang="en-US" sz="1900" dirty="0"/>
          </a:p>
        </p:txBody>
      </p:sp>
      <p:sp>
        <p:nvSpPr>
          <p:cNvPr id="8" name="Text 4"/>
          <p:cNvSpPr/>
          <p:nvPr/>
        </p:nvSpPr>
        <p:spPr>
          <a:xfrm>
            <a:off x="4268867" y="3338870"/>
            <a:ext cx="2824043" cy="71127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Performed GridSearchCV with 5-fold cross-validation</a:t>
            </a:r>
            <a:endParaRPr lang="en-US" sz="1750" dirty="0"/>
          </a:p>
        </p:txBody>
      </p:sp>
      <p:pic>
        <p:nvPicPr>
          <p:cNvPr id="9" name="Image 2" descr="preencoded.png"/>
          <p:cNvPicPr>
            <a:picLocks noChangeAspect="1"/>
          </p:cNvPicPr>
          <p:nvPr/>
        </p:nvPicPr>
        <p:blipFill>
          <a:blip r:embed="rId5"/>
          <a:stretch>
            <a:fillRect/>
          </a:stretch>
        </p:blipFill>
        <p:spPr>
          <a:xfrm>
            <a:off x="7315200" y="1674019"/>
            <a:ext cx="3268504" cy="889278"/>
          </a:xfrm>
          <a:prstGeom prst="rect">
            <a:avLst/>
          </a:prstGeom>
        </p:spPr>
      </p:pic>
      <p:sp>
        <p:nvSpPr>
          <p:cNvPr id="10" name="Text 5"/>
          <p:cNvSpPr/>
          <p:nvPr/>
        </p:nvSpPr>
        <p:spPr>
          <a:xfrm>
            <a:off x="7537490" y="2896791"/>
            <a:ext cx="2596396" cy="308729"/>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Optimal Configuration</a:t>
            </a:r>
            <a:endParaRPr lang="en-US" sz="1900" dirty="0"/>
          </a:p>
        </p:txBody>
      </p:sp>
      <p:sp>
        <p:nvSpPr>
          <p:cNvPr id="11" name="Text 6"/>
          <p:cNvSpPr/>
          <p:nvPr/>
        </p:nvSpPr>
        <p:spPr>
          <a:xfrm>
            <a:off x="7537490" y="3338870"/>
            <a:ext cx="2823924" cy="106691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n_estimators: 200, max_depth: 10, max_features: 'sqrt'</a:t>
            </a:r>
            <a:endParaRPr lang="en-US" sz="1750" dirty="0"/>
          </a:p>
        </p:txBody>
      </p:sp>
      <p:pic>
        <p:nvPicPr>
          <p:cNvPr id="12" name="Image 3" descr="preencoded.png"/>
          <p:cNvPicPr>
            <a:picLocks noChangeAspect="1"/>
          </p:cNvPicPr>
          <p:nvPr/>
        </p:nvPicPr>
        <p:blipFill>
          <a:blip r:embed="rId6"/>
          <a:stretch>
            <a:fillRect/>
          </a:stretch>
        </p:blipFill>
        <p:spPr>
          <a:xfrm>
            <a:off x="10583704" y="1674019"/>
            <a:ext cx="3268623" cy="889278"/>
          </a:xfrm>
          <a:prstGeom prst="rect">
            <a:avLst/>
          </a:prstGeom>
        </p:spPr>
      </p:pic>
      <p:sp>
        <p:nvSpPr>
          <p:cNvPr id="13" name="Text 7"/>
          <p:cNvSpPr/>
          <p:nvPr/>
        </p:nvSpPr>
        <p:spPr>
          <a:xfrm>
            <a:off x="10805993" y="2896791"/>
            <a:ext cx="2793563" cy="308729"/>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Performance Evaluation</a:t>
            </a:r>
            <a:endParaRPr lang="en-US" sz="1900" dirty="0"/>
          </a:p>
        </p:txBody>
      </p:sp>
      <p:sp>
        <p:nvSpPr>
          <p:cNvPr id="14" name="Text 8"/>
          <p:cNvSpPr/>
          <p:nvPr/>
        </p:nvSpPr>
        <p:spPr>
          <a:xfrm>
            <a:off x="10805993" y="3338870"/>
            <a:ext cx="2824043" cy="71127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Achieved same accuracy with improved robustness</a:t>
            </a:r>
            <a:endParaRPr lang="en-US" sz="1750" dirty="0"/>
          </a:p>
        </p:txBody>
      </p:sp>
      <p:sp>
        <p:nvSpPr>
          <p:cNvPr id="15" name="Text 9"/>
          <p:cNvSpPr/>
          <p:nvPr/>
        </p:nvSpPr>
        <p:spPr>
          <a:xfrm>
            <a:off x="778073" y="5233749"/>
            <a:ext cx="13074253" cy="106691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To enhance model performance, we implemented a systematic hyperparameter tuning process using GridSearchCV with 5-fold cross-validation. This approach allowed us to find the optimal combination of parameters while avoiding overfitting through validation across multiple data subsets.</a:t>
            </a:r>
            <a:endParaRPr lang="en-US" sz="1750" dirty="0"/>
          </a:p>
        </p:txBody>
      </p:sp>
      <p:sp>
        <p:nvSpPr>
          <p:cNvPr id="16" name="Text 10"/>
          <p:cNvSpPr/>
          <p:nvPr/>
        </p:nvSpPr>
        <p:spPr>
          <a:xfrm>
            <a:off x="778073" y="6550700"/>
            <a:ext cx="13074253" cy="106691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The tuned model maintained the same overall accuracy of 97%, but exhibited better robustness with less variance across different test sets. While the improvement in raw performance metrics was modest, the enhanced model showed more consistent behavior across varying transaction patterns.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04505" y="1001197"/>
            <a:ext cx="7031355" cy="638413"/>
          </a:xfrm>
          <a:prstGeom prst="rect">
            <a:avLst/>
          </a:prstGeom>
          <a:noFill/>
          <a:ln/>
        </p:spPr>
        <p:txBody>
          <a:bodyPr wrap="none" lIns="0" tIns="0" rIns="0" bIns="0" rtlCol="0" anchor="t"/>
          <a:lstStyle/>
          <a:p>
            <a:pPr marL="0" indent="0" algn="l">
              <a:lnSpc>
                <a:spcPts val="5000"/>
              </a:lnSpc>
              <a:buNone/>
            </a:pPr>
            <a:r>
              <a:rPr lang="en-US" sz="4000" b="1" dirty="0">
                <a:solidFill>
                  <a:srgbClr val="F0FCFF"/>
                </a:solidFill>
                <a:latin typeface="Spline Sans Bold" pitchFamily="34" charset="0"/>
                <a:ea typeface="Spline Sans Bold" pitchFamily="34" charset="-122"/>
                <a:cs typeface="Spline Sans Bold" pitchFamily="34" charset="-120"/>
              </a:rPr>
              <a:t>Insights &amp; Recommendations</a:t>
            </a:r>
            <a:endParaRPr lang="en-US" sz="4000" dirty="0"/>
          </a:p>
        </p:txBody>
      </p:sp>
      <p:sp>
        <p:nvSpPr>
          <p:cNvPr id="3" name="Shape 1"/>
          <p:cNvSpPr/>
          <p:nvPr/>
        </p:nvSpPr>
        <p:spPr>
          <a:xfrm>
            <a:off x="804505" y="2357795"/>
            <a:ext cx="517088" cy="517088"/>
          </a:xfrm>
          <a:prstGeom prst="roundRect">
            <a:avLst>
              <a:gd name="adj" fmla="val 66680"/>
            </a:avLst>
          </a:prstGeom>
          <a:solidFill>
            <a:srgbClr val="0A081B"/>
          </a:solidFill>
          <a:ln w="22860">
            <a:solidFill>
              <a:srgbClr val="16FFBB"/>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909757" y="2424767"/>
            <a:ext cx="306467" cy="383024"/>
          </a:xfrm>
          <a:prstGeom prst="rect">
            <a:avLst/>
          </a:prstGeom>
        </p:spPr>
      </p:pic>
      <p:sp>
        <p:nvSpPr>
          <p:cNvPr id="5" name="Text 2"/>
          <p:cNvSpPr/>
          <p:nvPr/>
        </p:nvSpPr>
        <p:spPr>
          <a:xfrm>
            <a:off x="1551384" y="2357795"/>
            <a:ext cx="2554010" cy="319207"/>
          </a:xfrm>
          <a:prstGeom prst="rect">
            <a:avLst/>
          </a:prstGeom>
          <a:noFill/>
          <a:ln/>
        </p:spPr>
        <p:txBody>
          <a:bodyPr wrap="none" lIns="0" tIns="0" rIns="0" bIns="0" rtlCol="0" anchor="t"/>
          <a:lstStyle/>
          <a:p>
            <a:pPr marL="0" indent="0" algn="l">
              <a:lnSpc>
                <a:spcPts val="2500"/>
              </a:lnSpc>
              <a:buNone/>
            </a:pPr>
            <a:r>
              <a:rPr lang="en-US" sz="2000" b="1" dirty="0">
                <a:solidFill>
                  <a:srgbClr val="E0E4E6"/>
                </a:solidFill>
                <a:latin typeface="Spline Sans Bold" pitchFamily="34" charset="0"/>
                <a:ea typeface="Spline Sans Bold" pitchFamily="34" charset="-122"/>
                <a:cs typeface="Spline Sans Bold" pitchFamily="34" charset="-120"/>
              </a:rPr>
              <a:t>Key Fraud Indicators</a:t>
            </a:r>
            <a:endParaRPr lang="en-US" sz="2000" dirty="0"/>
          </a:p>
        </p:txBody>
      </p:sp>
      <p:sp>
        <p:nvSpPr>
          <p:cNvPr id="6" name="Text 3"/>
          <p:cNvSpPr/>
          <p:nvPr/>
        </p:nvSpPr>
        <p:spPr>
          <a:xfrm>
            <a:off x="1551384" y="2814876"/>
            <a:ext cx="3440430" cy="4413409"/>
          </a:xfrm>
          <a:prstGeom prst="rect">
            <a:avLst/>
          </a:prstGeom>
          <a:noFill/>
          <a:ln/>
        </p:spPr>
        <p:txBody>
          <a:bodyPr wrap="square" lIns="0" tIns="0" rIns="0" bIns="0" rtlCol="0" anchor="t"/>
          <a:lstStyle/>
          <a:p>
            <a:pPr marL="0" indent="0" algn="l">
              <a:lnSpc>
                <a:spcPts val="2850"/>
              </a:lnSpc>
              <a:buNone/>
            </a:pPr>
            <a:r>
              <a:rPr lang="en-US" sz="1800" dirty="0">
                <a:solidFill>
                  <a:srgbClr val="E0E4E6"/>
                </a:solidFill>
                <a:latin typeface="Barlow" pitchFamily="34" charset="0"/>
                <a:ea typeface="Barlow" pitchFamily="34" charset="-122"/>
                <a:cs typeface="Barlow" pitchFamily="34" charset="-120"/>
              </a:rPr>
              <a:t>Transactions with high amounts relative to low account balances emerged as the strongest fraud signal. Unusually short time gaps between consecutive transactions, especially from different geographic locations, strongly indicated suspicious activity. Multiple failed login attempts prior to successful transactions also correlated strongly with fraudulent behavior.</a:t>
            </a:r>
            <a:endParaRPr lang="en-US" sz="1800" dirty="0"/>
          </a:p>
        </p:txBody>
      </p:sp>
      <p:sp>
        <p:nvSpPr>
          <p:cNvPr id="7" name="Shape 4"/>
          <p:cNvSpPr/>
          <p:nvPr/>
        </p:nvSpPr>
        <p:spPr>
          <a:xfrm>
            <a:off x="5221605" y="2357795"/>
            <a:ext cx="517088" cy="517088"/>
          </a:xfrm>
          <a:prstGeom prst="roundRect">
            <a:avLst>
              <a:gd name="adj" fmla="val 66680"/>
            </a:avLst>
          </a:prstGeom>
          <a:solidFill>
            <a:srgbClr val="0A081B"/>
          </a:solidFill>
          <a:ln w="22860">
            <a:solidFill>
              <a:srgbClr val="29DDDA"/>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5326856" y="2424767"/>
            <a:ext cx="306467" cy="383024"/>
          </a:xfrm>
          <a:prstGeom prst="rect">
            <a:avLst/>
          </a:prstGeom>
        </p:spPr>
      </p:pic>
      <p:sp>
        <p:nvSpPr>
          <p:cNvPr id="9" name="Text 5"/>
          <p:cNvSpPr/>
          <p:nvPr/>
        </p:nvSpPr>
        <p:spPr>
          <a:xfrm>
            <a:off x="5968484" y="2357795"/>
            <a:ext cx="3440430" cy="638413"/>
          </a:xfrm>
          <a:prstGeom prst="rect">
            <a:avLst/>
          </a:prstGeom>
          <a:noFill/>
          <a:ln/>
        </p:spPr>
        <p:txBody>
          <a:bodyPr wrap="square" lIns="0" tIns="0" rIns="0" bIns="0" rtlCol="0" anchor="t"/>
          <a:lstStyle/>
          <a:p>
            <a:pPr marL="0" indent="0" algn="l">
              <a:lnSpc>
                <a:spcPts val="2500"/>
              </a:lnSpc>
              <a:buNone/>
            </a:pPr>
            <a:r>
              <a:rPr lang="en-US" sz="2000" b="1" dirty="0">
                <a:solidFill>
                  <a:srgbClr val="E0E4E6"/>
                </a:solidFill>
                <a:latin typeface="Spline Sans Bold" pitchFamily="34" charset="0"/>
                <a:ea typeface="Spline Sans Bold" pitchFamily="34" charset="-122"/>
                <a:cs typeface="Spline Sans Bold" pitchFamily="34" charset="-120"/>
              </a:rPr>
              <a:t>Technical Recommendations</a:t>
            </a:r>
            <a:endParaRPr lang="en-US" sz="2000" dirty="0"/>
          </a:p>
        </p:txBody>
      </p:sp>
      <p:sp>
        <p:nvSpPr>
          <p:cNvPr id="10" name="Text 6"/>
          <p:cNvSpPr/>
          <p:nvPr/>
        </p:nvSpPr>
        <p:spPr>
          <a:xfrm>
            <a:off x="5968484" y="3134082"/>
            <a:ext cx="3440430" cy="3677841"/>
          </a:xfrm>
          <a:prstGeom prst="rect">
            <a:avLst/>
          </a:prstGeom>
          <a:noFill/>
          <a:ln/>
        </p:spPr>
        <p:txBody>
          <a:bodyPr wrap="square" lIns="0" tIns="0" rIns="0" bIns="0" rtlCol="0" anchor="t"/>
          <a:lstStyle/>
          <a:p>
            <a:pPr marL="0" indent="0" algn="l">
              <a:lnSpc>
                <a:spcPts val="2850"/>
              </a:lnSpc>
              <a:buNone/>
            </a:pPr>
            <a:r>
              <a:rPr lang="en-US" sz="1800" dirty="0">
                <a:solidFill>
                  <a:srgbClr val="E0E4E6"/>
                </a:solidFill>
                <a:latin typeface="Barlow" pitchFamily="34" charset="0"/>
                <a:ea typeface="Barlow" pitchFamily="34" charset="-122"/>
                <a:cs typeface="Barlow" pitchFamily="34" charset="-120"/>
              </a:rPr>
              <a:t>Implement real-time alerting system for transactions matching high-risk patterns. Deploy a hybrid approach combining unsupervised anomaly detection with supervised classification for optimal results. Establish automated model retraining pipeline to adapt to evolving fraud tactics.</a:t>
            </a:r>
            <a:endParaRPr lang="en-US" sz="1800" dirty="0"/>
          </a:p>
        </p:txBody>
      </p:sp>
      <p:sp>
        <p:nvSpPr>
          <p:cNvPr id="11" name="Shape 7"/>
          <p:cNvSpPr/>
          <p:nvPr/>
        </p:nvSpPr>
        <p:spPr>
          <a:xfrm>
            <a:off x="9638705" y="2357795"/>
            <a:ext cx="517088" cy="517088"/>
          </a:xfrm>
          <a:prstGeom prst="roundRect">
            <a:avLst>
              <a:gd name="adj" fmla="val 66680"/>
            </a:avLst>
          </a:prstGeom>
          <a:solidFill>
            <a:srgbClr val="0A081B"/>
          </a:solidFill>
          <a:ln w="22860">
            <a:solidFill>
              <a:srgbClr val="37A7E7"/>
            </a:solidFill>
            <a:prstDash val="solid"/>
          </a:ln>
        </p:spPr>
        <p:txBody>
          <a:bodyPr/>
          <a:lstStyle/>
          <a:p>
            <a:endParaRPr lang="en-IN"/>
          </a:p>
        </p:txBody>
      </p:sp>
      <p:pic>
        <p:nvPicPr>
          <p:cNvPr id="12" name="Image 2" descr="preencoded.png"/>
          <p:cNvPicPr>
            <a:picLocks noChangeAspect="1"/>
          </p:cNvPicPr>
          <p:nvPr/>
        </p:nvPicPr>
        <p:blipFill>
          <a:blip r:embed="rId5"/>
          <a:stretch>
            <a:fillRect/>
          </a:stretch>
        </p:blipFill>
        <p:spPr>
          <a:xfrm>
            <a:off x="9743956" y="2424767"/>
            <a:ext cx="306467" cy="383024"/>
          </a:xfrm>
          <a:prstGeom prst="rect">
            <a:avLst/>
          </a:prstGeom>
        </p:spPr>
      </p:pic>
      <p:sp>
        <p:nvSpPr>
          <p:cNvPr id="13" name="Text 8"/>
          <p:cNvSpPr/>
          <p:nvPr/>
        </p:nvSpPr>
        <p:spPr>
          <a:xfrm>
            <a:off x="10385584" y="2357795"/>
            <a:ext cx="2815828" cy="319207"/>
          </a:xfrm>
          <a:prstGeom prst="rect">
            <a:avLst/>
          </a:prstGeom>
          <a:noFill/>
          <a:ln/>
        </p:spPr>
        <p:txBody>
          <a:bodyPr wrap="none" lIns="0" tIns="0" rIns="0" bIns="0" rtlCol="0" anchor="t"/>
          <a:lstStyle/>
          <a:p>
            <a:pPr marL="0" indent="0" algn="l">
              <a:lnSpc>
                <a:spcPts val="2500"/>
              </a:lnSpc>
              <a:buNone/>
            </a:pPr>
            <a:r>
              <a:rPr lang="en-US" sz="2000" b="1" dirty="0">
                <a:solidFill>
                  <a:srgbClr val="E0E4E6"/>
                </a:solidFill>
                <a:latin typeface="Spline Sans Bold" pitchFamily="34" charset="0"/>
                <a:ea typeface="Spline Sans Bold" pitchFamily="34" charset="-122"/>
                <a:cs typeface="Spline Sans Bold" pitchFamily="34" charset="-120"/>
              </a:rPr>
              <a:t>Operational Integration</a:t>
            </a:r>
            <a:endParaRPr lang="en-US" sz="2000" dirty="0"/>
          </a:p>
        </p:txBody>
      </p:sp>
      <p:sp>
        <p:nvSpPr>
          <p:cNvPr id="14" name="Text 9"/>
          <p:cNvSpPr/>
          <p:nvPr/>
        </p:nvSpPr>
        <p:spPr>
          <a:xfrm>
            <a:off x="10385584" y="2814876"/>
            <a:ext cx="3440430" cy="3310057"/>
          </a:xfrm>
          <a:prstGeom prst="rect">
            <a:avLst/>
          </a:prstGeom>
          <a:noFill/>
          <a:ln/>
        </p:spPr>
        <p:txBody>
          <a:bodyPr wrap="square" lIns="0" tIns="0" rIns="0" bIns="0" rtlCol="0" anchor="t"/>
          <a:lstStyle/>
          <a:p>
            <a:pPr marL="0" indent="0" algn="l">
              <a:lnSpc>
                <a:spcPts val="2850"/>
              </a:lnSpc>
              <a:buNone/>
            </a:pPr>
            <a:r>
              <a:rPr lang="en-US" sz="1800" dirty="0">
                <a:solidFill>
                  <a:srgbClr val="E0E4E6"/>
                </a:solidFill>
                <a:latin typeface="Barlow" pitchFamily="34" charset="0"/>
                <a:ea typeface="Barlow" pitchFamily="34" charset="-122"/>
                <a:cs typeface="Barlow" pitchFamily="34" charset="-120"/>
              </a:rPr>
              <a:t>Integrate model outputs with existing fraud management systems through API connections. Create customized risk scores based on customer segments and historical patterns. Develop dashboards for fraud analysts to investigate model-flagged transactions efficiently.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59368" y="518041"/>
            <a:ext cx="5088255" cy="523280"/>
          </a:xfrm>
          <a:prstGeom prst="rect">
            <a:avLst/>
          </a:prstGeom>
          <a:noFill/>
          <a:ln/>
        </p:spPr>
        <p:txBody>
          <a:bodyPr wrap="none" lIns="0" tIns="0" rIns="0" bIns="0" rtlCol="0" anchor="t"/>
          <a:lstStyle/>
          <a:p>
            <a:pPr marL="0" indent="0" algn="l">
              <a:lnSpc>
                <a:spcPts val="4100"/>
              </a:lnSpc>
              <a:buNone/>
            </a:pPr>
            <a:r>
              <a:rPr lang="en-US" sz="3250" b="1" dirty="0">
                <a:solidFill>
                  <a:srgbClr val="F0FCFF"/>
                </a:solidFill>
                <a:latin typeface="Spline Sans Bold" pitchFamily="34" charset="0"/>
                <a:ea typeface="Spline Sans Bold" pitchFamily="34" charset="-122"/>
                <a:cs typeface="Spline Sans Bold" pitchFamily="34" charset="-120"/>
              </a:rPr>
              <a:t>Conclusion &amp; Future Work</a:t>
            </a:r>
            <a:endParaRPr lang="en-US" sz="3250" dirty="0"/>
          </a:p>
        </p:txBody>
      </p:sp>
      <p:sp>
        <p:nvSpPr>
          <p:cNvPr id="3" name="Shape 1"/>
          <p:cNvSpPr/>
          <p:nvPr/>
        </p:nvSpPr>
        <p:spPr>
          <a:xfrm>
            <a:off x="659368" y="3751540"/>
            <a:ext cx="13311664" cy="22860"/>
          </a:xfrm>
          <a:prstGeom prst="roundRect">
            <a:avLst>
              <a:gd name="adj" fmla="val 1236200"/>
            </a:avLst>
          </a:prstGeom>
          <a:solidFill>
            <a:srgbClr val="FFFFFF">
              <a:alpha val="24000"/>
            </a:srgbClr>
          </a:solidFill>
          <a:ln/>
        </p:spPr>
        <p:txBody>
          <a:bodyPr/>
          <a:lstStyle/>
          <a:p>
            <a:endParaRPr lang="en-IN"/>
          </a:p>
        </p:txBody>
      </p:sp>
      <p:sp>
        <p:nvSpPr>
          <p:cNvPr id="4" name="Shape 2"/>
          <p:cNvSpPr/>
          <p:nvPr/>
        </p:nvSpPr>
        <p:spPr>
          <a:xfrm>
            <a:off x="3928705" y="3186351"/>
            <a:ext cx="22860" cy="565190"/>
          </a:xfrm>
          <a:prstGeom prst="roundRect">
            <a:avLst>
              <a:gd name="adj" fmla="val 1236200"/>
            </a:avLst>
          </a:prstGeom>
          <a:solidFill>
            <a:srgbClr val="16FFBB"/>
          </a:solidFill>
          <a:ln/>
        </p:spPr>
        <p:txBody>
          <a:bodyPr/>
          <a:lstStyle/>
          <a:p>
            <a:endParaRPr lang="en-IN"/>
          </a:p>
        </p:txBody>
      </p:sp>
      <p:sp>
        <p:nvSpPr>
          <p:cNvPr id="5" name="Shape 3"/>
          <p:cNvSpPr/>
          <p:nvPr/>
        </p:nvSpPr>
        <p:spPr>
          <a:xfrm>
            <a:off x="3728204" y="3539609"/>
            <a:ext cx="423862" cy="423863"/>
          </a:xfrm>
          <a:prstGeom prst="roundRect">
            <a:avLst>
              <a:gd name="adj" fmla="val 66672"/>
            </a:avLst>
          </a:prstGeom>
          <a:solidFill>
            <a:srgbClr val="0A081B"/>
          </a:solidFill>
          <a:ln w="22860">
            <a:solidFill>
              <a:srgbClr val="16FFBB"/>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3814584" y="3594556"/>
            <a:ext cx="251103" cy="313968"/>
          </a:xfrm>
          <a:prstGeom prst="rect">
            <a:avLst/>
          </a:prstGeom>
        </p:spPr>
      </p:pic>
      <p:sp>
        <p:nvSpPr>
          <p:cNvPr id="7" name="Text 4"/>
          <p:cNvSpPr/>
          <p:nvPr/>
        </p:nvSpPr>
        <p:spPr>
          <a:xfrm>
            <a:off x="2893576" y="1418034"/>
            <a:ext cx="2093238" cy="261580"/>
          </a:xfrm>
          <a:prstGeom prst="rect">
            <a:avLst/>
          </a:prstGeom>
          <a:noFill/>
          <a:ln/>
        </p:spPr>
        <p:txBody>
          <a:bodyPr wrap="none" lIns="0" tIns="0" rIns="0" bIns="0" rtlCol="0" anchor="t"/>
          <a:lstStyle/>
          <a:p>
            <a:pPr marL="0" indent="0" algn="ctr">
              <a:lnSpc>
                <a:spcPts val="2050"/>
              </a:lnSpc>
              <a:buNone/>
            </a:pPr>
            <a:r>
              <a:rPr lang="en-US" sz="1600" b="1" dirty="0">
                <a:solidFill>
                  <a:srgbClr val="E0E4E6"/>
                </a:solidFill>
                <a:latin typeface="Spline Sans Bold" pitchFamily="34" charset="0"/>
                <a:ea typeface="Spline Sans Bold" pitchFamily="34" charset="-122"/>
                <a:cs typeface="Spline Sans Bold" pitchFamily="34" charset="-120"/>
              </a:rPr>
              <a:t>Achievements</a:t>
            </a:r>
            <a:endParaRPr lang="en-US" sz="1600" dirty="0"/>
          </a:p>
        </p:txBody>
      </p:sp>
      <p:sp>
        <p:nvSpPr>
          <p:cNvPr id="8" name="Text 5"/>
          <p:cNvSpPr/>
          <p:nvPr/>
        </p:nvSpPr>
        <p:spPr>
          <a:xfrm>
            <a:off x="847725" y="1792605"/>
            <a:ext cx="6184940" cy="1205389"/>
          </a:xfrm>
          <a:prstGeom prst="rect">
            <a:avLst/>
          </a:prstGeom>
          <a:noFill/>
          <a:ln/>
        </p:spPr>
        <p:txBody>
          <a:bodyPr wrap="squar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Successfully developed ML framework with 97% accuracy in detecting fraudulent transactions. Combined unsupervised and supervised learning for robust pattern recognition. Identified key fraud indicators for real-time monitoring.</a:t>
            </a:r>
            <a:endParaRPr lang="en-US" sz="1450" dirty="0"/>
          </a:p>
        </p:txBody>
      </p:sp>
      <p:sp>
        <p:nvSpPr>
          <p:cNvPr id="9" name="Shape 6"/>
          <p:cNvSpPr/>
          <p:nvPr/>
        </p:nvSpPr>
        <p:spPr>
          <a:xfrm>
            <a:off x="7303651" y="3751540"/>
            <a:ext cx="22860" cy="565190"/>
          </a:xfrm>
          <a:prstGeom prst="roundRect">
            <a:avLst>
              <a:gd name="adj" fmla="val 1236200"/>
            </a:avLst>
          </a:prstGeom>
          <a:solidFill>
            <a:srgbClr val="29DDDA"/>
          </a:solidFill>
          <a:ln/>
        </p:spPr>
        <p:txBody>
          <a:bodyPr/>
          <a:lstStyle/>
          <a:p>
            <a:endParaRPr lang="en-IN"/>
          </a:p>
        </p:txBody>
      </p:sp>
      <p:sp>
        <p:nvSpPr>
          <p:cNvPr id="10" name="Shape 7"/>
          <p:cNvSpPr/>
          <p:nvPr/>
        </p:nvSpPr>
        <p:spPr>
          <a:xfrm>
            <a:off x="7103150" y="3539609"/>
            <a:ext cx="423862" cy="423863"/>
          </a:xfrm>
          <a:prstGeom prst="roundRect">
            <a:avLst>
              <a:gd name="adj" fmla="val 66672"/>
            </a:avLst>
          </a:prstGeom>
          <a:solidFill>
            <a:srgbClr val="0A081B"/>
          </a:solidFill>
          <a:ln w="22860">
            <a:solidFill>
              <a:srgbClr val="29DDDA"/>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7189530" y="3594556"/>
            <a:ext cx="251103" cy="313968"/>
          </a:xfrm>
          <a:prstGeom prst="rect">
            <a:avLst/>
          </a:prstGeom>
        </p:spPr>
      </p:pic>
      <p:sp>
        <p:nvSpPr>
          <p:cNvPr id="12" name="Text 8"/>
          <p:cNvSpPr/>
          <p:nvPr/>
        </p:nvSpPr>
        <p:spPr>
          <a:xfrm>
            <a:off x="6268522" y="4505087"/>
            <a:ext cx="2093238" cy="261580"/>
          </a:xfrm>
          <a:prstGeom prst="rect">
            <a:avLst/>
          </a:prstGeom>
          <a:noFill/>
          <a:ln/>
        </p:spPr>
        <p:txBody>
          <a:bodyPr wrap="none" lIns="0" tIns="0" rIns="0" bIns="0" rtlCol="0" anchor="t"/>
          <a:lstStyle/>
          <a:p>
            <a:pPr marL="0" indent="0" algn="ctr">
              <a:lnSpc>
                <a:spcPts val="2050"/>
              </a:lnSpc>
              <a:buNone/>
            </a:pPr>
            <a:r>
              <a:rPr lang="en-US" sz="1600" b="1" dirty="0">
                <a:solidFill>
                  <a:srgbClr val="E0E4E6"/>
                </a:solidFill>
                <a:latin typeface="Spline Sans Bold" pitchFamily="34" charset="0"/>
                <a:ea typeface="Spline Sans Bold" pitchFamily="34" charset="-122"/>
                <a:cs typeface="Spline Sans Bold" pitchFamily="34" charset="-120"/>
              </a:rPr>
              <a:t>Limitations</a:t>
            </a:r>
            <a:endParaRPr lang="en-US" sz="1600" dirty="0"/>
          </a:p>
        </p:txBody>
      </p:sp>
      <p:sp>
        <p:nvSpPr>
          <p:cNvPr id="13" name="Text 9"/>
          <p:cNvSpPr/>
          <p:nvPr/>
        </p:nvSpPr>
        <p:spPr>
          <a:xfrm>
            <a:off x="4222671" y="4879658"/>
            <a:ext cx="6184940" cy="1205389"/>
          </a:xfrm>
          <a:prstGeom prst="rect">
            <a:avLst/>
          </a:prstGeom>
          <a:noFill/>
          <a:ln/>
        </p:spPr>
        <p:txBody>
          <a:bodyPr wrap="squar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Current model performance limited by class imbalance in training data. Static dataset doesn't capture evolving fraud patterns over time. Recall metrics indicate room for improvement in capturing all fraudulent transactions.</a:t>
            </a:r>
            <a:endParaRPr lang="en-US" sz="1450" dirty="0"/>
          </a:p>
        </p:txBody>
      </p:sp>
      <p:sp>
        <p:nvSpPr>
          <p:cNvPr id="14" name="Shape 10"/>
          <p:cNvSpPr/>
          <p:nvPr/>
        </p:nvSpPr>
        <p:spPr>
          <a:xfrm>
            <a:off x="10678716" y="3186351"/>
            <a:ext cx="22860" cy="565190"/>
          </a:xfrm>
          <a:prstGeom prst="roundRect">
            <a:avLst>
              <a:gd name="adj" fmla="val 1236200"/>
            </a:avLst>
          </a:prstGeom>
          <a:solidFill>
            <a:srgbClr val="37A7E7"/>
          </a:solidFill>
          <a:ln/>
        </p:spPr>
        <p:txBody>
          <a:bodyPr/>
          <a:lstStyle/>
          <a:p>
            <a:endParaRPr lang="en-IN"/>
          </a:p>
        </p:txBody>
      </p:sp>
      <p:sp>
        <p:nvSpPr>
          <p:cNvPr id="15" name="Shape 11"/>
          <p:cNvSpPr/>
          <p:nvPr/>
        </p:nvSpPr>
        <p:spPr>
          <a:xfrm>
            <a:off x="10478214" y="3539609"/>
            <a:ext cx="423862" cy="423863"/>
          </a:xfrm>
          <a:prstGeom prst="roundRect">
            <a:avLst>
              <a:gd name="adj" fmla="val 66672"/>
            </a:avLst>
          </a:prstGeom>
          <a:solidFill>
            <a:srgbClr val="0A081B"/>
          </a:solidFill>
          <a:ln w="22860">
            <a:solidFill>
              <a:srgbClr val="37A7E7"/>
            </a:solidFill>
            <a:prstDash val="solid"/>
          </a:ln>
        </p:spPr>
        <p:txBody>
          <a:bodyPr/>
          <a:lstStyle/>
          <a:p>
            <a:endParaRPr lang="en-IN"/>
          </a:p>
        </p:txBody>
      </p:sp>
      <p:pic>
        <p:nvPicPr>
          <p:cNvPr id="16" name="Image 2" descr="preencoded.png"/>
          <p:cNvPicPr>
            <a:picLocks noChangeAspect="1"/>
          </p:cNvPicPr>
          <p:nvPr/>
        </p:nvPicPr>
        <p:blipFill>
          <a:blip r:embed="rId5"/>
          <a:stretch>
            <a:fillRect/>
          </a:stretch>
        </p:blipFill>
        <p:spPr>
          <a:xfrm>
            <a:off x="10564594" y="3594556"/>
            <a:ext cx="251103" cy="313968"/>
          </a:xfrm>
          <a:prstGeom prst="rect">
            <a:avLst/>
          </a:prstGeom>
        </p:spPr>
      </p:pic>
      <p:sp>
        <p:nvSpPr>
          <p:cNvPr id="17" name="Text 12"/>
          <p:cNvSpPr/>
          <p:nvPr/>
        </p:nvSpPr>
        <p:spPr>
          <a:xfrm>
            <a:off x="9643586" y="1418034"/>
            <a:ext cx="2093238" cy="261580"/>
          </a:xfrm>
          <a:prstGeom prst="rect">
            <a:avLst/>
          </a:prstGeom>
          <a:noFill/>
          <a:ln/>
        </p:spPr>
        <p:txBody>
          <a:bodyPr wrap="none" lIns="0" tIns="0" rIns="0" bIns="0" rtlCol="0" anchor="t"/>
          <a:lstStyle/>
          <a:p>
            <a:pPr marL="0" indent="0" algn="ctr">
              <a:lnSpc>
                <a:spcPts val="2050"/>
              </a:lnSpc>
              <a:buNone/>
            </a:pPr>
            <a:r>
              <a:rPr lang="en-US" sz="1600" b="1" dirty="0">
                <a:solidFill>
                  <a:srgbClr val="E0E4E6"/>
                </a:solidFill>
                <a:latin typeface="Spline Sans Bold" pitchFamily="34" charset="0"/>
                <a:ea typeface="Spline Sans Bold" pitchFamily="34" charset="-122"/>
                <a:cs typeface="Spline Sans Bold" pitchFamily="34" charset="-120"/>
              </a:rPr>
              <a:t>Future Work</a:t>
            </a:r>
            <a:endParaRPr lang="en-US" sz="1600" dirty="0"/>
          </a:p>
        </p:txBody>
      </p:sp>
      <p:sp>
        <p:nvSpPr>
          <p:cNvPr id="18" name="Text 13"/>
          <p:cNvSpPr/>
          <p:nvPr/>
        </p:nvSpPr>
        <p:spPr>
          <a:xfrm>
            <a:off x="7597735" y="1792605"/>
            <a:ext cx="6184940" cy="1205389"/>
          </a:xfrm>
          <a:prstGeom prst="rect">
            <a:avLst/>
          </a:prstGeom>
          <a:noFill/>
          <a:ln/>
        </p:spPr>
        <p:txBody>
          <a:bodyPr wrap="squar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Address class imbalance through advanced sampling techniques. Implement streaming data processing for real-time analysis. Explore deep learning approaches for higher-dimensional pattern recognition. Develop explainable AI components for regulatory compliance.</a:t>
            </a:r>
            <a:endParaRPr lang="en-US" sz="1450" dirty="0"/>
          </a:p>
        </p:txBody>
      </p:sp>
      <p:sp>
        <p:nvSpPr>
          <p:cNvPr id="19" name="Text 14"/>
          <p:cNvSpPr/>
          <p:nvPr/>
        </p:nvSpPr>
        <p:spPr>
          <a:xfrm>
            <a:off x="659368" y="6296978"/>
            <a:ext cx="13311664" cy="602694"/>
          </a:xfrm>
          <a:prstGeom prst="rect">
            <a:avLst/>
          </a:prstGeom>
          <a:noFill/>
          <a:ln/>
        </p:spPr>
        <p:txBody>
          <a:bodyPr wrap="square" lIns="0" tIns="0" rIns="0" bIns="0" rtlCol="0" anchor="t"/>
          <a:lstStyle/>
          <a:p>
            <a:pPr marL="0" indent="0" algn="l">
              <a:lnSpc>
                <a:spcPts val="2350"/>
              </a:lnSpc>
              <a:buNone/>
            </a:pPr>
            <a:r>
              <a:rPr lang="en-US" sz="1450" dirty="0">
                <a:solidFill>
                  <a:srgbClr val="E0E4E6"/>
                </a:solidFill>
                <a:latin typeface="Barlow" pitchFamily="34" charset="0"/>
                <a:ea typeface="Barlow" pitchFamily="34" charset="-122"/>
                <a:cs typeface="Barlow" pitchFamily="34" charset="-120"/>
              </a:rPr>
              <a:t>Machine learning significantly improves fraud detection capabilities compared to traditional rule-based systems. Our combined approach of unsupervised anomaly detection followed by supervised classification provides both flexibility to detect novel patterns and precision in classification decisions.</a:t>
            </a:r>
            <a:endParaRPr lang="en-US" sz="1450" dirty="0"/>
          </a:p>
        </p:txBody>
      </p:sp>
      <p:sp>
        <p:nvSpPr>
          <p:cNvPr id="20" name="Text 15"/>
          <p:cNvSpPr/>
          <p:nvPr/>
        </p:nvSpPr>
        <p:spPr>
          <a:xfrm>
            <a:off x="659368" y="7111603"/>
            <a:ext cx="13311664" cy="602694"/>
          </a:xfrm>
          <a:prstGeom prst="rect">
            <a:avLst/>
          </a:prstGeom>
          <a:noFill/>
          <a:ln/>
        </p:spPr>
        <p:txBody>
          <a:bodyPr wrap="square" lIns="0" tIns="0" rIns="0" bIns="0" rtlCol="0" anchor="t"/>
          <a:lstStyle/>
          <a:p>
            <a:pPr marL="0" indent="0" algn="l">
              <a:lnSpc>
                <a:spcPts val="2350"/>
              </a:lnSpc>
              <a:buNone/>
            </a:pPr>
            <a:r>
              <a:rPr lang="en-US" sz="1450" dirty="0">
                <a:solidFill>
                  <a:srgbClr val="E0E4E6"/>
                </a:solidFill>
                <a:latin typeface="Barlow" pitchFamily="34" charset="0"/>
                <a:ea typeface="Barlow" pitchFamily="34" charset="-122"/>
                <a:cs typeface="Barlow" pitchFamily="34" charset="-120"/>
              </a:rPr>
              <a:t>The developed framework shows high potential for integration into real-world banking systems, where it could significantly reduce fraud losses while minimizing false positive alerts that create customer friction.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1277</Words>
  <Application>Microsoft Office PowerPoint</Application>
  <PresentationFormat>Custom</PresentationFormat>
  <Paragraphs>110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Spline Sans Bold</vt:lpstr>
      <vt:lpstr>Barlow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Muduthanapelli Sai rohith</cp:lastModifiedBy>
  <cp:revision>1</cp:revision>
  <dcterms:created xsi:type="dcterms:W3CDTF">2025-03-27T20:55:10Z</dcterms:created>
  <dcterms:modified xsi:type="dcterms:W3CDTF">2025-11-07T00:01:44Z</dcterms:modified>
</cp:coreProperties>
</file>